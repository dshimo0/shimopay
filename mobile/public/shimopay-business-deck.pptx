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1f009e7bc8040b6" Type="http://schemas.openxmlformats.org/package/2006/relationships/metadata/core-properties" Target="docProps/core.xml"/><Relationship Id="R857eb97f5b0f42b5" Type="http://schemas.openxmlformats.org/officeDocument/2006/relationships/extended-properties" Target="docProps/app.xml"/><Relationship Id="Rc099474262bd499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c08146cf48cc4bc4"/>
  </p:sldMasterIdLst>
  <p:notesMasterIdLst>
    <p:notesMasterId xmlns:r="http://schemas.openxmlformats.org/officeDocument/2006/relationships" r:id="R823ddd25b6d84a60"/>
  </p:notesMasterIdLst>
  <p:sldIdLst>
    <p:sldId xmlns:r="http://schemas.openxmlformats.org/officeDocument/2006/relationships" id="256" r:id="R7ff54e65dcd54c9f"/>
    <p:sldId xmlns:r="http://schemas.openxmlformats.org/officeDocument/2006/relationships" id="257" r:id="Rd42d73139e5444ae"/>
    <p:sldId xmlns:r="http://schemas.openxmlformats.org/officeDocument/2006/relationships" id="258" r:id="R396dc842ab0f4f6a"/>
    <p:sldId xmlns:r="http://schemas.openxmlformats.org/officeDocument/2006/relationships" id="259" r:id="R4811d98e58694779"/>
    <p:sldId xmlns:r="http://schemas.openxmlformats.org/officeDocument/2006/relationships" id="260" r:id="R1bd03df9d1d145be"/>
    <p:sldId xmlns:r="http://schemas.openxmlformats.org/officeDocument/2006/relationships" id="261" r:id="R95a3d3a0db504549"/>
    <p:sldId xmlns:r="http://schemas.openxmlformats.org/officeDocument/2006/relationships" id="262" r:id="R44d1a8f985694a1f"/>
    <p:sldId xmlns:r="http://schemas.openxmlformats.org/officeDocument/2006/relationships" id="263" r:id="R8f396aedfa1b444e"/>
    <p:sldId xmlns:r="http://schemas.openxmlformats.org/officeDocument/2006/relationships" id="264" r:id="Re72b0f5a39504ae1"/>
    <p:sldId xmlns:r="http://schemas.openxmlformats.org/officeDocument/2006/relationships" id="265" r:id="Rc25103fb008047fa"/>
    <p:sldId xmlns:r="http://schemas.openxmlformats.org/officeDocument/2006/relationships" id="266" r:id="R7ff49e454b194913"/>
    <p:sldId xmlns:r="http://schemas.openxmlformats.org/officeDocument/2006/relationships" id="267" r:id="R3dcada9236ba45ec"/>
    <p:sldId xmlns:r="http://schemas.openxmlformats.org/officeDocument/2006/relationships" id="268" r:id="Ra7d1c390c1ec4f12"/>
    <p:sldId xmlns:r="http://schemas.openxmlformats.org/officeDocument/2006/relationships" id="269" r:id="R65137d17e3284427"/>
    <p:sldId xmlns:r="http://schemas.openxmlformats.org/officeDocument/2006/relationships" id="270" r:id="R5b4efec008f2496e"/>
    <p:sldId xmlns:r="http://schemas.openxmlformats.org/officeDocument/2006/relationships" id="271" r:id="Re5f7c7eab96a48d7"/>
    <p:sldId xmlns:r="http://schemas.openxmlformats.org/officeDocument/2006/relationships" id="272" r:id="Ra7143766991c4a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fb288b69134752" Type="http://schemas.openxmlformats.org/officeDocument/2006/relationships/presProps" Target="presProps.xml"/><Relationship Id="R1bd03df9d1d145be" Type="http://schemas.openxmlformats.org/officeDocument/2006/relationships/slide" Target="slides/slide5.xml"/><Relationship Id="R396dc842ab0f4f6a" Type="http://schemas.openxmlformats.org/officeDocument/2006/relationships/slide" Target="slides/slide3.xml"/><Relationship Id="R3dcada9236ba45ec" Type="http://schemas.openxmlformats.org/officeDocument/2006/relationships/slide" Target="slides/slide12.xml"/><Relationship Id="R44d1a8f985694a1f" Type="http://schemas.openxmlformats.org/officeDocument/2006/relationships/slide" Target="slides/slide7.xml"/><Relationship Id="R4811d98e58694779" Type="http://schemas.openxmlformats.org/officeDocument/2006/relationships/slide" Target="slides/slide4.xml"/><Relationship Id="R5b4efec008f2496e" Type="http://schemas.openxmlformats.org/officeDocument/2006/relationships/slide" Target="slides/slide15.xml"/><Relationship Id="R65137d17e3284427" Type="http://schemas.openxmlformats.org/officeDocument/2006/relationships/slide" Target="slides/slide14.xml"/><Relationship Id="R79b0ec91b88946c7" Type="http://schemas.openxmlformats.org/officeDocument/2006/relationships/theme" Target="theme/theme1.xml"/><Relationship Id="R7ff49e454b194913" Type="http://schemas.openxmlformats.org/officeDocument/2006/relationships/slide" Target="slides/slide11.xml"/><Relationship Id="R7ff54e65dcd54c9f" Type="http://schemas.openxmlformats.org/officeDocument/2006/relationships/slide" Target="slides/slide1.xml"/><Relationship Id="R823ddd25b6d84a60" Type="http://schemas.openxmlformats.org/officeDocument/2006/relationships/notesMaster" Target="notesMasters/notesMaster1.xml"/><Relationship Id="R8f396aedfa1b444e" Type="http://schemas.openxmlformats.org/officeDocument/2006/relationships/slide" Target="slides/slide8.xml"/><Relationship Id="R95a3d3a0db504549" Type="http://schemas.openxmlformats.org/officeDocument/2006/relationships/slide" Target="slides/slide6.xml"/><Relationship Id="R98074db4573543d2" Type="http://schemas.openxmlformats.org/officeDocument/2006/relationships/tableStyles" Target="tableStyles.xml"/><Relationship Id="Ra7143766991c4a51" Type="http://schemas.openxmlformats.org/officeDocument/2006/relationships/slide" Target="slides/slide17.xml"/><Relationship Id="Ra7d1c390c1ec4f12" Type="http://schemas.openxmlformats.org/officeDocument/2006/relationships/slide" Target="slides/slide13.xml"/><Relationship Id="Rc08146cf48cc4bc4" Type="http://schemas.openxmlformats.org/officeDocument/2006/relationships/slideMaster" Target="slideMasters/slideMaster1.xml"/><Relationship Id="Rc25103fb008047fa" Type="http://schemas.openxmlformats.org/officeDocument/2006/relationships/slide" Target="slides/slide10.xml"/><Relationship Id="Rd42d73139e5444ae" Type="http://schemas.openxmlformats.org/officeDocument/2006/relationships/slide" Target="slides/slide2.xml"/><Relationship Id="Re5f7c7eab96a48d7" Type="http://schemas.openxmlformats.org/officeDocument/2006/relationships/slide" Target="slides/slide16.xml"/><Relationship Id="Re72b0f5a39504ae1"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31e5b735f4c8402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0171f7db63a4dbc" Type="http://schemas.openxmlformats.org/officeDocument/2006/relationships/slide" Target="../slides/slide1.xml"/><Relationship Id="Ra4ee3a383d8b45c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0f6eab3a81c4137" Type="http://schemas.openxmlformats.org/officeDocument/2006/relationships/slide" Target="../slides/slide2.xml"/><Relationship Id="R9c2d65dbfa3743e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31e6b1a07f140b9" Type="http://schemas.openxmlformats.org/officeDocument/2006/relationships/slide" Target="../slides/slide3.xml"/><Relationship Id="Re994c58bf37b4419"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264be187e884ff2" Type="http://schemas.openxmlformats.org/officeDocument/2006/relationships/notesMaster" Target="../notesMasters/notesMaster1.xml"/><Relationship Id="Rb5c7ece43c43422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7d8512f79614e9a" Type="http://schemas.openxmlformats.org/officeDocument/2006/relationships/slide" Target="../slides/slide5.xml"/><Relationship Id="Rd95fda61bfbc422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af7ebacdaf44208" Type="http://schemas.openxmlformats.org/officeDocument/2006/relationships/notesMaster" Target="../notesMasters/notesMaster1.xml"/><Relationship Id="Rcc28959ce96844c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2d283025a86945d7" Type="http://schemas.openxmlformats.org/officeDocument/2006/relationships/notesMaster" Target="../notesMasters/notesMaster1.xml"/><Relationship Id="R6be7b891702c4f0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69bfd20400054b50" Type="http://schemas.openxmlformats.org/officeDocument/2006/relationships/notesMaster" Target="../notesMasters/notesMaster1.xml"/><Relationship Id="R778194e87e9944a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2e25bb049a014de6" Type="http://schemas.openxmlformats.org/officeDocument/2006/relationships/slide" Target="../slides/slide9.xml"/><Relationship Id="Rf2f93e656be64cf5"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539803ada1d34624" Type="http://schemas.openxmlformats.org/officeDocument/2006/relationships/slide" Target="../slides/slide10.xml"/><Relationship Id="Reeed02475324410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8f13cab7013e4e30" Type="http://schemas.openxmlformats.org/officeDocument/2006/relationships/notesMaster" Target="../notesMasters/notesMaster1.xml"/><Relationship Id="Rd41183ae79784794"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fa77da9f92cb4081" Type="http://schemas.openxmlformats.org/officeDocument/2006/relationships/notesMaster" Target="../notesMasters/notesMaster1.xml"/><Relationship Id="Rfc9024eee5d44a0c"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b51eae249054752" Type="http://schemas.openxmlformats.org/officeDocument/2006/relationships/notesMaster" Target="../notesMasters/notesMaster1.xml"/><Relationship Id="R9b5ee61b6abb4780"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b920d3175c3d4557" Type="http://schemas.openxmlformats.org/officeDocument/2006/relationships/notesMaster" Target="../notesMasters/notesMaster1.xml"/><Relationship Id="Rdb25a772ca4846f9"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4d1187e30a764a7e" Type="http://schemas.openxmlformats.org/officeDocument/2006/relationships/slide" Target="../slides/slide15.xml"/><Relationship Id="Rfded5fe7be4d4a46"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c4e87e1d27a421f" Type="http://schemas.openxmlformats.org/officeDocument/2006/relationships/slide" Target="../slides/slide16.xml"/><Relationship Id="Rad18021e3ad34dec"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061839b685f446e7" Type="http://schemas.openxmlformats.org/officeDocument/2006/relationships/notesMaster" Target="../notesMasters/notesMaster1.xml"/><Relationship Id="R7315d8b6e2574e63"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pitch, October 14, 2026. Development prototype. Current wallet screenshot captured read-only at https://shimopay-mobile.vercel.app/customer/home on October 14. Shared development wallet. Screenshot does not establish new payments or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customer scenario, not a completed interview or documented merchant outage. No measured outage frequency or lost-sales claim. Cafe image is an AI-generated editorial illustration, not a customer/pilot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 proposition and numerical illustration are hypotheses. Example: BRL 25 ticket, assumed 40% contribution margin produces BRL 10 contribution per recovered sale. Proposed BRL 79 monthly subscription requires ceil(79/10)=8 incremental recovered sales before added fees, labor and acceptance losses. BRL 79 is a midpoint illustration within proposed BRL 49–99 range. No measured merchant margins or recovered sales.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context, not ShimoPay TAM or proven demand. Sebrae headline reports 24 million active small businesses, published June 26, updated July 6, 2026: https://agenciasebrae.com.br/dados/pequenos-negocios-somam-24-milhoes-de-empresas-ativas/. BCB Relatório de Gestão do Pix 2023–2025, p.14: 76% of transactions between individuals and legal entities were up to BRL 60 in 2025. https://www.bcb.gov.br/content/estabilidadefinanceira/pix/relatorio_de_gestao_pix/relatorio_gestao_pix_2026.pdf. These universes differ and must not be multiplied to infer a customer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customer and expansion strategy are proposed, not completed research. Broad national small-business count is not an addressable market estimate. SAM needs qualification by geography, outage frequency, wallet adoption, legal feasibility and willingness to pay. The 100-location target below is a planning scenario, not a forecast or market-share assertion.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core flow: https://github.com/dshimo0/shimo-pay-mobile/blob/main/README.md and docs/DEMO.md. Prepare online, escrow-backed session, cache policy. Locally sign and verify Ed25519 intents without internet. Settle test USDC on Solana Devnet after either party reconnects. Session allowance and expiry do not eliminate conflicting intent acceptance across disconnected merchants. Solana is the prototype's programmable escrow/settlement rail, not an offline blockchain. Production feasibility and cost advantage over custody remain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read-only screenshots captured October 14, 2026 at https://shimopay-mobile.vercel.app/customer/home and /merchant/dashboard. Original UI in Portuguese. BRL 25 displayed quote is 4.545455 USDC at BRL 5.50/USDC. Capture shows review/charge setup, not a new payment or personal accounts. USDC is the Devnet rail. Pix/card are online sandbox options, fiat conversion/payout remains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test screenshots from October 12, 2026: https://github.com/dshimo0/shimo-pay-mobile/blob/main/docs/evidence/mobile-live-offline.png and mobile-live-settled.png. They show earlier product UI, not current October 14 captures. Offline evidence JSON: offlineApiRequests 0, offlinePwaReload true, independentMerchant true and payerStillOfflineAtSettlement true. Only merchant reconnection is demonstrated. This is developer test evidence, not a merchant pilot. Original Portuguese product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documented developer-run test: https://github.com/dshimo0/shimo-pay-mobile/blob/main/docs/evidence/mobile-live-full.json checkedAt 2026-10-12T20:24:46.524Z. 2 BRL 25 payments, 1 online and 1 authorized offline, each 4.545455 test USDC at BRL 5.50/USDC. Replay rejected true. Screenshot https://github.com/dshimo0/shimo-pay-mobile/blob/main/docs/evidence/mobile-live-wallet.png. Explorer confirmed Success/Finalized at https://explorer.solana.com/tx/3H5KGjwctHH4bcU2ePEo8g8RZYRbo9AMUM1pDNxcSoeFNdr2Hv5QW2MneG3j5Q1HHJKfYfmHMGYCAtxMJ4LwB47p?cluster=devnet. No external users, commercial pilot or revenue. Latest UI captures are read-only and do not change this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covers categories and design choices, not verified superiority. Solana Pay URL/QR payment requests: https://docs.solanapay.com/core/overview and https://docs.solanapay.com/core/transfer-request/overview. Offline card systems exist. Stripe Terminal terms describe offline mode processing-failure risk: https://stripe.com/legal/ssa-services-terms. Stripe example does not establish regional availability in Brazil. ShimoPay design from https://github.com/dshimo0/shimo-pay-mobile/blob/main/README.md. Benchmark setup cost, adoption, settlement reliability and total economics with actual merchants.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business model, not validated pricing or revenue. BRL 49–99/location/month was introduced as a founder application hypothesis. Consumer access without subscription, business reconciliation offering, possible partner licensing and eventual service commissions are new strategic proposals. Consumer zero subscription does not mean zero network/provider fees. No active partnerships, fees, commissions or FX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steady-state arithmetic, not forecasts, targets by date, customer counts or valuation. BRL 79/location/month. MRR=locations*79. Annual recurring run rate=MRR*12. Excludes churn, free trials, discounts, taxes and variable costs. Margins, acquisition cost and willingness to pay remain unvalidated. No transaction volume or FX revenue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 8–12 merchant interviews and 2 design partners from earlier deck plan, not completed. Proposed pilot success metrics: checkout completion, settlement success and latency, disputes/losses, willingness to pay and repeat usage. Legal/security readiness gates real-money testing. 100 paying locations is a later scenario conditional on validated demand, not committed 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October 14 screenshot: https://shimopay-mobile.vercel.app/customer/stores. Four entries divide bill/pay QR/offline reserve/receipts. These are product navigation/tools, not a commercial partner marketplace. Broader miniapps/partner integration and commissions are future vision, no existing agreements. Product began after founder China visit March 2025. Focus core merchant payment validation before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readiness boundaries from https://github.com/dshimo0/shimo-pay-mobile/blob/main/README.md and docs/DEMO.md. Shared dev wallets, incomplete individual custody/authentication/hardware key protection. Escrow caps chain spending but not aggregate offline merchant acceptance losses. Proposed loss allocation is merchant-borne only with explicit pilot agreement, no adopted policy/guarantee. Fiat conversion/payout simulated. No claim of legal/regulatory approval. Dates are not committed.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Founder-reported: Diego Shimohama, 25+ years IT/security/identity/infrastructure, Zurich LATAM professional experience, no employer endorsement. Naapi claims assessment reduction from 20 days to 3 minutes, fraud reduction/identification and instant payments are user-supplied achievements, not independently audited and not attributed to a Brasilseg pilot. Hack-Cancer community and BioFlow evidence triage founder experience. ShimoPay idea after China visit March 2025, mobile UI predates competition, integrations during hackathon described in earlier submission. Solo technical founder, part-time alongside Zurich. Request: merchant design partners, mentorship and funding sufficient for full-time transition, no amount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retrieved October 14, 2026. Research records market context and competitor capabilities only. Product evidence comes from repo/live read-only capture, with historical/current distinctions. Commercial scenarios/targets/pricing are assumptions. Cafe illustration generated with built-in image tool from prompt: small independent São Paulo cafe checkout interrupted by connectivity, editorial illustration with dark green/lime palette, no text/alcohol/logos. Embedded asset cafe-illustration.png.</a:t>
            </a:r>
          </a:p>
          <a:p xmlns:a="http://schemas.openxmlformats.org/drawingml/2006/main">
            <a:r>
              <a:t>https://agenciasebrae.com.br/dados/pequenos-negocios-somam-24-milhoes-de-empresas-ativas/</a:t>
            </a:r>
          </a:p>
          <a:p xmlns:a="http://schemas.openxmlformats.org/drawingml/2006/main">
            <a:r>
              <a:t>https://www.bcb.gov.br/content/estabilidadefinanceira/pix/relatorio_de_gestao_pix/relatorio_gestao_pix_2026.pdf</a:t>
            </a:r>
          </a:p>
          <a:p xmlns:a="http://schemas.openxmlformats.org/drawingml/2006/main">
            <a:r>
              <a:t>https://github.com/dshimo0/shimo-pay-mobile/blob/main/README.md</a:t>
            </a:r>
          </a:p>
          <a:p xmlns:a="http://schemas.openxmlformats.org/drawingml/2006/main">
            <a:r>
              <a:t>https://github.com/dshimo0/shimo-pay-mobile/blob/main/docs/DEMO.md</a:t>
            </a:r>
          </a:p>
          <a:p xmlns:a="http://schemas.openxmlformats.org/drawingml/2006/main">
            <a:r>
              <a:t>https://github.com/dshimo0/shimo-pay-mobile/blob/main/docs/evidence/mobile-live-full.json</a:t>
            </a:r>
          </a:p>
          <a:p xmlns:a="http://schemas.openxmlformats.org/drawingml/2006/main">
            <a:r>
              <a:t>https://docs.solanapay.com/core/overview</a:t>
            </a:r>
          </a:p>
          <a:p xmlns:a="http://schemas.openxmlformats.org/drawingml/2006/main">
            <a:r>
              <a:t>https://stripe.com/legal/ssa-services-terms</a:t>
            </a:r>
          </a:p>
          <a:p xmlns:a="http://schemas.openxmlformats.org/drawingml/2006/main">
            <a:r>
              <a:t>https://explorer.solana.com/tx/3H5KGjwctHH4bcU2ePEo8g8RZYRbo9AMUM1pDNxcSoeFNdr2Hv5QW2MneG3j5Q1HHJKfYfmHMGYCAtxMJ4LwB47p?cluster=devnet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e957afe904845c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4982e991b6194f3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7c1d69f927d24857"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7771ed744c2411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662a53b90328464a"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5f35e0c794b49e8"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553A36-45DE-4CE2-8BF6-5F63393D19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77A395-013C-404C-BC63-A418DAD6C3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7C1F44-078E-43BF-B01B-BB7AB26785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80DC1B-032F-4F7A-AFEE-EF72C80204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264A73-4C72-4F1D-BD36-D6489B9431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AB22C1-C832-42CC-84EB-684A53A3EA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42C966-5C3D-4F11-A534-EB2BD81C1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E7D9D5-B66F-441A-B34F-CB66F3BEFE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1CE3CC-96E2-4814-B374-06FAE93281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CFEFD1-DE15-4213-8633-963702689B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eda15522def43c7" Type="http://schemas.openxmlformats.org/officeDocument/2006/relationships/theme" Target="theme/theme2.xml"/><Relationship Id="R48a7aa3a58e74fe5" Type="http://schemas.openxmlformats.org/officeDocument/2006/relationships/slideLayout" Target="../slideLayouts/slideLayout4.xml"/><Relationship Id="R51705c3c535b4509" Type="http://schemas.openxmlformats.org/officeDocument/2006/relationships/slideLayout" Target="../slideLayouts/slideLayout6.xml"/><Relationship Id="R8742339aaca746ca" Type="http://schemas.openxmlformats.org/officeDocument/2006/relationships/slideLayout" Target="../slideLayouts/slideLayout2.xml"/><Relationship Id="R99502de62d96473a" Type="http://schemas.openxmlformats.org/officeDocument/2006/relationships/slideLayout" Target="../slideLayouts/slideLayout5.xml"/><Relationship Id="Rc2ab827abed740d6" Type="http://schemas.openxmlformats.org/officeDocument/2006/relationships/slideLayout" Target="../slideLayouts/slideLayout3.xml"/><Relationship Id="Rd20689fa899a45ca"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0689fa899a45ca"/>
    <p:sldLayoutId xmlns:r="http://schemas.openxmlformats.org/officeDocument/2006/relationships" id="2147483650" r:id="R8742339aaca746ca"/>
    <p:sldLayoutId xmlns:r="http://schemas.openxmlformats.org/officeDocument/2006/relationships" id="2147483651" r:id="Rc2ab827abed740d6"/>
    <p:sldLayoutId xmlns:r="http://schemas.openxmlformats.org/officeDocument/2006/relationships" id="2147483652" r:id="R48a7aa3a58e74fe5"/>
    <p:sldLayoutId xmlns:r="http://schemas.openxmlformats.org/officeDocument/2006/relationships" id="2147483653" r:id="R99502de62d96473a"/>
    <p:sldLayoutId xmlns:r="http://schemas.openxmlformats.org/officeDocument/2006/relationships" id="2147483654" r:id="R51705c3c535b45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da80046a95694064" Type="http://schemas.openxmlformats.org/officeDocument/2006/relationships/slideLayout" Target="../slideLayouts/slideLayout6.xml"/><Relationship Id="Re04bded60e2640cc" Type="http://schemas.openxmlformats.org/officeDocument/2006/relationships/image" Target="../media/image.jpeg"/><Relationship Id="Rec3c3ba5231d41ad"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6b018a6e7c10434b" Type="http://schemas.openxmlformats.org/officeDocument/2006/relationships/image" Target="../media/image.png"/><Relationship Id="R9b3accea9d5d4209" Type="http://schemas.openxmlformats.org/officeDocument/2006/relationships/notesSlide" Target="../notesSlides/notesSlide2.xml"/><Relationship Id="Rc01e40a3e5404603"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c8421537d6aa46d8" Type="http://schemas.openxmlformats.org/officeDocument/2006/relationships/slideLayout" Target="../slideLayouts/slideLayout6.xml"/><Relationship Id="Rd79ef0be3cd74ab7"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860c2091cae746c6" Type="http://schemas.openxmlformats.org/officeDocument/2006/relationships/notesSlide" Target="../notesSlides/notesSlide4.xml"/><Relationship Id="R8a1508f43d284980" Type="http://schemas.openxmlformats.org/officeDocument/2006/relationships/slideLayout" Target="../slideLayouts/slideLayout6.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7dfd936575624ff6" Type="http://schemas.openxmlformats.org/officeDocument/2006/relationships/slideLayout" Target="../slideLayouts/slideLayout6.xml"/><Relationship Id="R9c44cf2062dc44bd"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512922eb43dc4994" Type="http://schemas.openxmlformats.org/officeDocument/2006/relationships/slideLayout" Target="../slideLayouts/slideLayout6.xml"/><Relationship Id="R643f5f10b2bc4a2a"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12f5b5ca7e89498b" Type="http://schemas.openxmlformats.org/officeDocument/2006/relationships/image" Target="../media/image3.jpeg"/><Relationship Id="R7cac24eba9084903" Type="http://schemas.openxmlformats.org/officeDocument/2006/relationships/notesSlide" Target="../notesSlides/notesSlide7.xml"/><Relationship Id="R86dec874c23e4d8d" Type="http://schemas.openxmlformats.org/officeDocument/2006/relationships/image" Target="../media/image2.jpeg"/><Relationship Id="Rd82fbfcfaee1400b" Type="http://schemas.openxmlformats.org/officeDocument/2006/relationships/slideLayout" Target="../slideLayouts/slideLayout6.xm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625c4afacf114a79" Type="http://schemas.openxmlformats.org/officeDocument/2006/relationships/slideLayout" Target="../slideLayouts/slideLayout6.xml"/><Relationship Id="R81f2a02d497047c2" Type="http://schemas.openxmlformats.org/officeDocument/2006/relationships/image" Target="../media/image2.png"/><Relationship Id="Re51a342cfe5547c1" Type="http://schemas.openxmlformats.org/officeDocument/2006/relationships/notesSlide" Target="../notesSlides/notesSlide8.xml"/><Relationship Id="Rf1c4881d7528449b" Type="http://schemas.openxmlformats.org/officeDocument/2006/relationships/image" Target="../media/image3.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2c038305c2ed49db" Type="http://schemas.openxmlformats.org/officeDocument/2006/relationships/slideLayout" Target="../slideLayouts/slideLayout6.xml"/><Relationship Id="R83413a3e9e4e4078" Type="http://schemas.openxmlformats.org/officeDocument/2006/relationships/image" Target="../media/image4.png"/><Relationship Id="Rdceb7bf38a994a33" Type="http://schemas.openxmlformats.org/officeDocument/2006/relationships/image" Target="../media/image4.jpeg"/><Relationship Id="Rf06f5c99bd594cc2" Type="http://schemas.openxmlformats.org/officeDocument/2006/relationships/notesSlide" Target="../notesSlides/notesSlide9.xm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290d0bb91ab94e0b" Type="http://schemas.openxmlformats.org/officeDocument/2006/relationships/slideLayout" Target="../slideLayouts/slideLayout6.xml"/><Relationship Id="R7988c89220094874"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b6488fd3b53745f4" Type="http://schemas.openxmlformats.org/officeDocument/2006/relationships/notesSlide" Target="../notesSlides/notesSlide11.xml"/><Relationship Id="Rbfa0e718ee054a44" Type="http://schemas.openxmlformats.org/officeDocument/2006/relationships/slideLayout" Target="../slideLayouts/slideLayout6.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67369cc3a521410e" Type="http://schemas.openxmlformats.org/officeDocument/2006/relationships/slideLayout" Target="../slideLayouts/slideLayout6.xml"/><Relationship Id="Reb39b7bf8dd54a97"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0efe7a4d62404900" Type="http://schemas.openxmlformats.org/officeDocument/2006/relationships/notesSlide" Target="../notesSlides/notesSlide13.xml"/><Relationship Id="R7182c5e57f3b4d70" Type="http://schemas.openxmlformats.org/officeDocument/2006/relationships/slideLayout" Target="../slideLayouts/slideLayout6.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26d0be7fad2a4178" Type="http://schemas.openxmlformats.org/officeDocument/2006/relationships/image" Target="../media/image5.jpeg"/><Relationship Id="R31a3874078314506" Type="http://schemas.openxmlformats.org/officeDocument/2006/relationships/notesSlide" Target="../notesSlides/notesSlide14.xml"/><Relationship Id="Rdf41ae31639a4398" Type="http://schemas.openxmlformats.org/officeDocument/2006/relationships/slideLayout" Target="../slideLayouts/slideLayout6.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3c6f2da2b22c401b" Type="http://schemas.openxmlformats.org/officeDocument/2006/relationships/slideLayout" Target="../slideLayouts/slideLayout6.xml"/><Relationship Id="Rb800f76ca822459d"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e153b560fafc40be" Type="http://schemas.openxmlformats.org/officeDocument/2006/relationships/notesSlide" Target="../notesSlides/notesSlide16.xml"/><Relationship Id="Rec73376a7da3487d" Type="http://schemas.openxmlformats.org/officeDocument/2006/relationships/slideLayout" Target="../slideLayouts/slideLayout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f885d4a050c84801" Type="http://schemas.openxmlformats.org/officeDocument/2006/relationships/notesSlide" Target="../notesSlides/notesSlide17.xml"/><Relationship Id="Rfe0b83e38fa9405d" Type="http://schemas.openxmlformats.org/officeDocument/2006/relationships/slideLayout" Target="../slideLayouts/slideLayout6.xml"/><Relationship Id="rId3" Type="http://schemas.openxmlformats.org/officeDocument/2006/relationships/image" Target="../media/image1.png"/></Relationships>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A1444CB5-26AE-407F-AD4F-BED105BB84D9}"/>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ShimoPay</a:t>
            </a:r>
          </a:p>
        </p:txBody>
      </p:sp>
      <p:sp>
        <p:nvSpPr>
          <p:cNvPr id="3" name="text-2">
            <a:extLst xmlns:a="http://schemas.openxmlformats.org/drawingml/2006/main">
              <a:ext uri="{FF2B5EF4-FFF2-40B4-BE49-F238E27FC236}">
                <a16:creationId xmlns:a16="http://schemas.microsoft.com/office/drawing/2014/main" id="{377D965D-649E-4A5C-A9BB-8E6AC3A99471}"/>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01</a:t>
            </a:r>
          </a:p>
        </p:txBody>
      </p:sp>
      <p:sp>
        <p:nvSpPr>
          <p:cNvPr id="4" name="text-3">
            <a:extLst xmlns:a="http://schemas.openxmlformats.org/drawingml/2006/main">
              <a:ext uri="{FF2B5EF4-FFF2-40B4-BE49-F238E27FC236}">
                <a16:creationId xmlns:a16="http://schemas.microsoft.com/office/drawing/2014/main" id="{301C991A-B220-431E-8D9C-7E357A0B6914}"/>
              </a:ext>
            </a:extLst>
          </p:cNvPr>
          <p:cNvSpPr>
            <a:spLocks xmlns:a="http://schemas.openxmlformats.org/drawingml/2006/main" noGrp="1"/>
          </p:cNvSpPr>
          <p:nvPr/>
        </p:nvSpPr>
        <p:spPr>
          <a:xfrm xmlns:a="http://schemas.openxmlformats.org/drawingml/2006/main">
            <a:off x="609600" y="2438400"/>
            <a:ext cx="5905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75" b="1">
                <a:solidFill>
                  <a:srgbClr val="293DFF"/>
                </a:solidFill>
                <a:latin typeface="DejaVu Sans"/>
                <a:ea typeface="DejaVu Sans"/>
                <a:cs typeface="DejaVu Sans"/>
              </a:defRPr>
            </a:defPPr>
          </a:lstStyle>
          <a:p xmlns:a="http://schemas.openxmlformats.org/drawingml/2006/main">
            <a:pPr>
              <a:defRPr sz="3975" b="1">
                <a:solidFill>
                  <a:srgbClr val="293DFF"/>
                </a:solidFill>
                <a:latin typeface="DejaVu Sans"/>
                <a:ea typeface="DejaVu Sans"/>
                <a:cs typeface="DejaVu Sans"/>
              </a:defRPr>
            </a:pPr>
            <a:r>
              <a:rPr sz="3975" b="1">
                <a:solidFill>
                  <a:srgbClr val="293DFF"/>
                </a:solidFill>
                <a:latin typeface="DejaVu Sans"/>
                <a:ea typeface="DejaVu Sans"/>
                <a:cs typeface="DejaVu Sans"/>
              </a:rPr>
              <a:t>Payments during</a:t>
            </a:r>
          </a:p>
          <a:p xmlns:a="http://schemas.openxmlformats.org/drawingml/2006/main">
            <a:pPr>
              <a:defRPr sz="3975" b="1">
                <a:solidFill>
                  <a:srgbClr val="293DFF"/>
                </a:solidFill>
                <a:latin typeface="DejaVu Sans"/>
                <a:ea typeface="DejaVu Sans"/>
                <a:cs typeface="DejaVu Sans"/>
              </a:defRPr>
            </a:pPr>
            <a:r>
              <a:rPr sz="3975" b="1">
                <a:solidFill>
                  <a:srgbClr val="293DFF"/>
                </a:solidFill>
                <a:latin typeface="DejaVu Sans"/>
                <a:ea typeface="DejaVu Sans"/>
                <a:cs typeface="DejaVu Sans"/>
              </a:rPr>
              <a:t>connectivity outages</a:t>
            </a:r>
          </a:p>
        </p:txBody>
      </p:sp>
      <p:sp>
        <p:nvSpPr>
          <p:cNvPr id="5" name="text-4">
            <a:extLst xmlns:a="http://schemas.openxmlformats.org/drawingml/2006/main">
              <a:ext uri="{FF2B5EF4-FFF2-40B4-BE49-F238E27FC236}">
                <a16:creationId xmlns:a16="http://schemas.microsoft.com/office/drawing/2014/main" id="{40699B30-B248-4E7F-98AF-452815E89207}"/>
              </a:ext>
            </a:extLst>
          </p:cNvPr>
          <p:cNvSpPr>
            <a:spLocks xmlns:a="http://schemas.openxmlformats.org/drawingml/2006/main" noGrp="1"/>
          </p:cNvSpPr>
          <p:nvPr/>
        </p:nvSpPr>
        <p:spPr>
          <a:xfrm xmlns:a="http://schemas.openxmlformats.org/drawingml/2006/main">
            <a:off x="609600" y="4276725"/>
            <a:ext cx="590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101C40"/>
                </a:solidFill>
                <a:latin typeface="DejaVu Sans"/>
                <a:ea typeface="DejaVu Sans"/>
                <a:cs typeface="DejaVu Sans"/>
              </a:defRPr>
            </a:defPPr>
          </a:lstStyle>
          <a:p xmlns:a="http://schemas.openxmlformats.org/drawingml/2006/main">
            <a:pPr>
              <a:defRPr sz="2250" b="0">
                <a:solidFill>
                  <a:srgbClr val="101C40"/>
                </a:solidFill>
                <a:latin typeface="DejaVu Sans"/>
                <a:ea typeface="DejaVu Sans"/>
                <a:cs typeface="DejaVu Sans"/>
              </a:defRPr>
            </a:pPr>
            <a:r>
              <a:rPr sz="2250" b="0">
                <a:solidFill>
                  <a:srgbClr val="101C40"/>
                </a:solidFill>
                <a:latin typeface="DejaVu Sans"/>
                <a:ea typeface="DejaVu Sans"/>
                <a:cs typeface="DejaVu Sans"/>
              </a:rPr>
              <a:t>Authorize locally. Settle in USDC</a:t>
            </a:r>
          </a:p>
          <a:p xmlns:a="http://schemas.openxmlformats.org/drawingml/2006/main">
            <a:pPr>
              <a:defRPr sz="2250" b="0">
                <a:solidFill>
                  <a:srgbClr val="101C40"/>
                </a:solidFill>
                <a:latin typeface="DejaVu Sans"/>
                <a:ea typeface="DejaVu Sans"/>
                <a:cs typeface="DejaVu Sans"/>
              </a:defRPr>
            </a:pPr>
            <a:r>
              <a:rPr sz="2250" b="0">
                <a:solidFill>
                  <a:srgbClr val="101C40"/>
                </a:solidFill>
                <a:latin typeface="DejaVu Sans"/>
                <a:ea typeface="DejaVu Sans"/>
                <a:cs typeface="DejaVu Sans"/>
              </a:rPr>
              <a:t>when connectivity returns.</a:t>
            </a:r>
          </a:p>
        </p:txBody>
      </p:sp>
      <p:sp>
        <p:nvSpPr>
          <p:cNvPr id="6" name="text-5">
            <a:extLst xmlns:a="http://schemas.openxmlformats.org/drawingml/2006/main">
              <a:ext uri="{FF2B5EF4-FFF2-40B4-BE49-F238E27FC236}">
                <a16:creationId xmlns:a16="http://schemas.microsoft.com/office/drawing/2014/main" id="{EEEF2636-EB13-4767-A111-EAC954FD3008}"/>
              </a:ext>
            </a:extLst>
          </p:cNvPr>
          <p:cNvSpPr>
            <a:spLocks xmlns:a="http://schemas.openxmlformats.org/drawingml/2006/main" noGrp="1"/>
          </p:cNvSpPr>
          <p:nvPr/>
        </p:nvSpPr>
        <p:spPr>
          <a:xfrm xmlns:a="http://schemas.openxmlformats.org/drawingml/2006/main">
            <a:off x="609600" y="5419725"/>
            <a:ext cx="561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596989"/>
                </a:solidFill>
                <a:latin typeface="DejaVu Sans"/>
                <a:ea typeface="DejaVu Sans"/>
                <a:cs typeface="DejaVu Sans"/>
              </a:defRPr>
            </a:defPPr>
          </a:lstStyle>
          <a:p xmlns:a="http://schemas.openxmlformats.org/drawingml/2006/main">
            <a:pPr>
              <a:defRPr sz="1800" b="0">
                <a:solidFill>
                  <a:srgbClr val="596989"/>
                </a:solidFill>
                <a:latin typeface="DejaVu Sans"/>
                <a:ea typeface="DejaVu Sans"/>
                <a:cs typeface="DejaVu Sans"/>
              </a:defRPr>
            </a:pPr>
            <a:r>
              <a:rPr sz="1800" b="0">
                <a:solidFill>
                  <a:srgbClr val="596989"/>
                </a:solidFill>
                <a:latin typeface="DejaVu Sans"/>
                <a:ea typeface="DejaVu Sans"/>
                <a:cs typeface="DejaVu Sans"/>
              </a:rPr>
              <a:t>Diego Shimohama</a:t>
            </a:r>
          </a:p>
          <a:p xmlns:a="http://schemas.openxmlformats.org/drawingml/2006/main">
            <a:pPr>
              <a:defRPr sz="1800" b="0">
                <a:solidFill>
                  <a:srgbClr val="596989"/>
                </a:solidFill>
                <a:latin typeface="DejaVu Sans"/>
                <a:ea typeface="DejaVu Sans"/>
                <a:cs typeface="DejaVu Sans"/>
              </a:defRPr>
            </a:pPr>
            <a:r>
              <a:rPr sz="1800" b="0">
                <a:solidFill>
                  <a:srgbClr val="596989"/>
                </a:solidFill>
                <a:latin typeface="DejaVu Sans"/>
                <a:ea typeface="DejaVu Sans"/>
                <a:cs typeface="DejaVu Sans"/>
              </a:rPr>
              <a:t>São Paulo, Brazil</a:t>
            </a:r>
          </a:p>
        </p:txBody>
      </p:sp>
      <p:pic>
        <p:nvPicPr>
          <p:cNvPr id="7" name="">
            <a:extLst xmlns:a="http://schemas.openxmlformats.org/drawingml/2006/main">
              <a:ext uri="{FF2B5EF4-FFF2-40B4-BE49-F238E27FC236}">
                <a16:creationId xmlns:a16="http://schemas.microsoft.com/office/drawing/2014/main" id="{B2485019-A61B-46DD-8E2A-F479B88DEEA8}"/>
              </a:ext>
            </a:extLst>
          </p:cNvPr>
          <p:cNvPicPr>
            <a:picLocks xmlns:a="http://schemas.openxmlformats.org/drawingml/2006/main" noChangeAspect="1"/>
          </p:cNvPicPr>
          <p:nvPr/>
        </p:nvPicPr>
        <p:blipFill>
          <a:blip xmlns:r="http://schemas.openxmlformats.org/officeDocument/2006/relationships" xmlns:a="http://schemas.openxmlformats.org/drawingml/2006/main" r:embed="Re04bded60e2640cc"/>
          <a:stretch xmlns:a="http://schemas.openxmlformats.org/drawingml/2006/main"/>
        </p:blipFill>
        <p:spPr>
          <a:xfrm xmlns:a="http://schemas.openxmlformats.org/drawingml/2006/main">
            <a:off x="7010400" y="2229064"/>
            <a:ext cx="4552950" cy="3580972"/>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944B5073-90F6-49D0-9067-520AF0F71350}"/>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Solana Devnet prototype. English deck with original Portuguese product screens.</a:t>
            </a:r>
          </a:p>
        </p:txBody>
      </p:sp>
      <p:pic xmlns:a="http://schemas.openxmlformats.org/drawingml/2006/main" xmlns:r="http://schemas.openxmlformats.org/officeDocument/2006/relationships">
        <p:nvPicPr>
          <p:cNvPr id="9" name="Picture 8" descr="app-icon.png"/>
          <p:cNvPicPr>
            <a:picLocks noChangeAspect="1"/>
          </p:cNvPicPr>
          <p:nvPr/>
        </p:nvPicPr>
        <p:blipFill>
          <a:blip r:embed="rId4"/>
          <a:stretch>
            <a:fillRect/>
          </a:stretch>
        </p:blipFill>
        <p:spPr>
          <a:xfrm>
            <a:off x="594360" y="246888"/>
            <a:ext cx="448056" cy="448056"/>
          </a:xfrm>
          <a:prstGeom prst="rect">
            <a:avLst/>
          </a:prstGeom>
        </p:spPr>
      </p:pic>
      <p:sp xmlns:a="http://schemas.openxmlformats.org/drawingml/2006/main">
        <p:nvSpPr>
          <p:cNvPr id="10" name="TextBox 9"/>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1" name="Rectangle 10"/>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90005252"/>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7CC3F6E1-73F2-4009-BCB8-97C0EA050C44}"/>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The checkout problem</a:t>
            </a:r>
          </a:p>
        </p:txBody>
      </p:sp>
      <p:sp>
        <p:nvSpPr>
          <p:cNvPr id="3" name="text-2">
            <a:extLst xmlns:a="http://schemas.openxmlformats.org/drawingml/2006/main">
              <a:ext uri="{FF2B5EF4-FFF2-40B4-BE49-F238E27FC236}">
                <a16:creationId xmlns:a16="http://schemas.microsoft.com/office/drawing/2014/main" id="{71856797-9D4F-4712-B67B-8AB25E80209F}"/>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02</a:t>
            </a:r>
          </a:p>
        </p:txBody>
      </p:sp>
      <p:pic>
        <p:nvPicPr>
          <p:cNvPr id="4" name="">
            <a:extLst xmlns:a="http://schemas.openxmlformats.org/drawingml/2006/main">
              <a:ext uri="{FF2B5EF4-FFF2-40B4-BE49-F238E27FC236}">
                <a16:creationId xmlns:a16="http://schemas.microsoft.com/office/drawing/2014/main" id="{12575EE2-DB6B-484C-B3C6-55A249F6C545}"/>
              </a:ext>
            </a:extLst>
          </p:cNvPr>
          <p:cNvPicPr>
            <a:picLocks xmlns:a="http://schemas.openxmlformats.org/drawingml/2006/main" noChangeAspect="1"/>
          </p:cNvPicPr>
          <p:nvPr/>
        </p:nvPicPr>
        <p:blipFill>
          <a:blip xmlns:r="http://schemas.openxmlformats.org/officeDocument/2006/relationships" xmlns:a="http://schemas.openxmlformats.org/drawingml/2006/main" r:embed="R6b018a6e7c10434b"/>
          <a:stretch xmlns:a="http://schemas.openxmlformats.org/drawingml/2006/main"/>
        </p:blipFill>
        <p:spPr>
          <a:xfrm xmlns:a="http://schemas.openxmlformats.org/drawingml/2006/main">
            <a:off x="5638800" y="2300595"/>
            <a:ext cx="5905500" cy="332361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E32DDF53-3929-464D-A4AF-687579273B54}"/>
              </a:ext>
            </a:extLst>
          </p:cNvPr>
          <p:cNvSpPr>
            <a:spLocks xmlns:a="http://schemas.openxmlformats.org/drawingml/2006/main" noGrp="1"/>
          </p:cNvSpPr>
          <p:nvPr/>
        </p:nvSpPr>
        <p:spPr>
          <a:xfrm xmlns:a="http://schemas.openxmlformats.org/drawingml/2006/main">
            <a:off x="609600" y="241935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1">
                <a:solidFill>
                  <a:srgbClr val="293DFF"/>
                </a:solidFill>
                <a:latin typeface="DejaVu Sans"/>
                <a:ea typeface="DejaVu Sans"/>
                <a:cs typeface="DejaVu Sans"/>
              </a:defRPr>
            </a:defPPr>
          </a:lstStyle>
          <a:p xmlns:a="http://schemas.openxmlformats.org/drawingml/2006/main">
            <a:pPr>
              <a:defRPr sz="3000" b="1">
                <a:solidFill>
                  <a:srgbClr val="293DFF"/>
                </a:solidFill>
                <a:latin typeface="DejaVu Sans"/>
                <a:ea typeface="DejaVu Sans"/>
                <a:cs typeface="DejaVu Sans"/>
              </a:defRPr>
            </a:pPr>
            <a:r>
              <a:rPr sz="3000" b="1">
                <a:solidFill>
                  <a:srgbClr val="293DFF"/>
                </a:solidFill>
                <a:latin typeface="DejaVu Sans"/>
                <a:ea typeface="DejaVu Sans"/>
                <a:cs typeface="DejaVu Sans"/>
              </a:rPr>
              <a:t>The customer is ready.</a:t>
            </a:r>
          </a:p>
          <a:p xmlns:a="http://schemas.openxmlformats.org/drawingml/2006/main">
            <a:pPr>
              <a:defRPr sz="3000" b="1">
                <a:solidFill>
                  <a:srgbClr val="293DFF"/>
                </a:solidFill>
                <a:latin typeface="DejaVu Sans"/>
                <a:ea typeface="DejaVu Sans"/>
                <a:cs typeface="DejaVu Sans"/>
              </a:defRPr>
            </a:pPr>
            <a:r>
              <a:rPr sz="3000" b="1">
                <a:solidFill>
                  <a:srgbClr val="293DFF"/>
                </a:solidFill>
                <a:latin typeface="DejaVu Sans"/>
                <a:ea typeface="DejaVu Sans"/>
                <a:cs typeface="DejaVu Sans"/>
              </a:rPr>
              <a:t>The connection fails.</a:t>
            </a:r>
          </a:p>
        </p:txBody>
      </p:sp>
      <p:sp>
        <p:nvSpPr>
          <p:cNvPr id="6" name="text-4">
            <a:extLst xmlns:a="http://schemas.openxmlformats.org/drawingml/2006/main">
              <a:ext uri="{FF2B5EF4-FFF2-40B4-BE49-F238E27FC236}">
                <a16:creationId xmlns:a16="http://schemas.microsoft.com/office/drawing/2014/main" id="{4E6446FD-4E77-444A-A2D5-78E939D95547}"/>
              </a:ext>
            </a:extLst>
          </p:cNvPr>
          <p:cNvSpPr>
            <a:spLocks xmlns:a="http://schemas.openxmlformats.org/drawingml/2006/main" noGrp="1"/>
          </p:cNvSpPr>
          <p:nvPr/>
        </p:nvSpPr>
        <p:spPr>
          <a:xfrm xmlns:a="http://schemas.openxmlformats.org/drawingml/2006/main">
            <a:off x="609600" y="4010025"/>
            <a:ext cx="4857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01C40"/>
                </a:solidFill>
                <a:latin typeface="DejaVu Sans"/>
                <a:ea typeface="DejaVu Sans"/>
                <a:cs typeface="DejaVu Sans"/>
              </a:defRPr>
            </a:defPPr>
          </a:lstStyle>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A merchant must wait, ask for</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another payment method or</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accept uncertainty.</a:t>
            </a:r>
          </a:p>
        </p:txBody>
      </p:sp>
      <p:sp>
        <p:nvSpPr>
          <p:cNvPr id="7" name="text-5">
            <a:extLst xmlns:a="http://schemas.openxmlformats.org/drawingml/2006/main">
              <a:ext uri="{FF2B5EF4-FFF2-40B4-BE49-F238E27FC236}">
                <a16:creationId xmlns:a16="http://schemas.microsoft.com/office/drawing/2014/main" id="{02AB5766-4B44-475C-8CAB-26A2CB2D816F}"/>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Need to validate: how often outages affect checkout and which merchants lose sales.</a:t>
            </a:r>
          </a:p>
        </p:txBody>
      </p:sp>
      <p:pic xmlns:a="http://schemas.openxmlformats.org/drawingml/2006/main" xmlns:r="http://schemas.openxmlformats.org/officeDocument/2006/relationships">
        <p:nvPicPr>
          <p:cNvPr id="8" name="Picture 7" descr="app-icon.png"/>
          <p:cNvPicPr>
            <a:picLocks noChangeAspect="1"/>
          </p:cNvPicPr>
          <p:nvPr/>
        </p:nvPicPr>
        <p:blipFill>
          <a:blip r:embed="rId4"/>
          <a:stretch>
            <a:fillRect/>
          </a:stretch>
        </p:blipFill>
        <p:spPr>
          <a:xfrm>
            <a:off x="594360" y="246888"/>
            <a:ext cx="448056" cy="448056"/>
          </a:xfrm>
          <a:prstGeom prst="rect">
            <a:avLst/>
          </a:prstGeom>
        </p:spPr>
      </p:pic>
      <p:sp xmlns:a="http://schemas.openxmlformats.org/drawingml/2006/main">
        <p:nvSpPr>
          <p:cNvPr id="9" name="TextBox 8"/>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0" name="Rectangle 9"/>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71431059"/>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F3FA2F85-DB7F-4CDE-8175-31ED613E30AE}"/>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The merchant’s reason to pay</a:t>
            </a:r>
          </a:p>
        </p:txBody>
      </p:sp>
      <p:sp>
        <p:nvSpPr>
          <p:cNvPr id="3" name="text-2">
            <a:extLst xmlns:a="http://schemas.openxmlformats.org/drawingml/2006/main">
              <a:ext uri="{FF2B5EF4-FFF2-40B4-BE49-F238E27FC236}">
                <a16:creationId xmlns:a16="http://schemas.microsoft.com/office/drawing/2014/main" id="{77DF699F-1CC6-4E8A-90A0-43BCBB3D15D6}"/>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03</a:t>
            </a:r>
          </a:p>
        </p:txBody>
      </p:sp>
      <p:sp>
        <p:nvSpPr>
          <p:cNvPr id="4" name="text-3">
            <a:extLst xmlns:a="http://schemas.openxmlformats.org/drawingml/2006/main">
              <a:ext uri="{FF2B5EF4-FFF2-40B4-BE49-F238E27FC236}">
                <a16:creationId xmlns:a16="http://schemas.microsoft.com/office/drawing/2014/main" id="{5E59F306-E862-4FF2-983F-2D7E8EFD8520}"/>
              </a:ext>
            </a:extLst>
          </p:cNvPr>
          <p:cNvSpPr>
            <a:spLocks xmlns:a="http://schemas.openxmlformats.org/drawingml/2006/main" noGrp="1"/>
          </p:cNvSpPr>
          <p:nvPr/>
        </p:nvSpPr>
        <p:spPr>
          <a:xfrm xmlns:a="http://schemas.openxmlformats.org/drawingml/2006/main">
            <a:off x="609600" y="2457450"/>
            <a:ext cx="542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1">
                <a:solidFill>
                  <a:srgbClr val="293DFF"/>
                </a:solidFill>
                <a:latin typeface="DejaVu Sans"/>
                <a:ea typeface="DejaVu Sans"/>
                <a:cs typeface="DejaVu Sans"/>
              </a:defRPr>
            </a:defPPr>
          </a:lstStyle>
          <a:p xmlns:a="http://schemas.openxmlformats.org/drawingml/2006/main">
            <a:pPr>
              <a:defRPr sz="3000" b="1">
                <a:solidFill>
                  <a:srgbClr val="293DFF"/>
                </a:solidFill>
                <a:latin typeface="DejaVu Sans"/>
                <a:ea typeface="DejaVu Sans"/>
                <a:cs typeface="DejaVu Sans"/>
              </a:defRPr>
            </a:pPr>
            <a:r>
              <a:rPr sz="3000" b="1">
                <a:solidFill>
                  <a:srgbClr val="293DFF"/>
                </a:solidFill>
                <a:latin typeface="DejaVu Sans"/>
                <a:ea typeface="DejaVu Sans"/>
                <a:cs typeface="DejaVu Sans"/>
              </a:rPr>
              <a:t>Checkout continuity</a:t>
            </a:r>
          </a:p>
        </p:txBody>
      </p:sp>
      <p:sp>
        <p:nvSpPr>
          <p:cNvPr id="5" name="text-4">
            <a:extLst xmlns:a="http://schemas.openxmlformats.org/drawingml/2006/main">
              <a:ext uri="{FF2B5EF4-FFF2-40B4-BE49-F238E27FC236}">
                <a16:creationId xmlns:a16="http://schemas.microsoft.com/office/drawing/2014/main" id="{300C6811-58DD-4484-AB79-10F1C11A7CA3}"/>
              </a:ext>
            </a:extLst>
          </p:cNvPr>
          <p:cNvSpPr>
            <a:spLocks xmlns:a="http://schemas.openxmlformats.org/drawingml/2006/main" noGrp="1"/>
          </p:cNvSpPr>
          <p:nvPr/>
        </p:nvSpPr>
        <p:spPr>
          <a:xfrm xmlns:a="http://schemas.openxmlformats.org/drawingml/2006/main">
            <a:off x="609600" y="3238500"/>
            <a:ext cx="600075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01C40"/>
                </a:solidFill>
                <a:latin typeface="DejaVu Sans"/>
                <a:ea typeface="DejaVu Sans"/>
                <a:cs typeface="DejaVu Sans"/>
              </a:defRPr>
            </a:defPPr>
          </a:lstStyle>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Accept a locally verifiable payment intent.</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See what remains pending.</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Reconcile after connectivity returns.</a:t>
            </a:r>
          </a:p>
        </p:txBody>
      </p:sp>
      <p:sp>
        <p:nvSpPr>
          <p:cNvPr id="6" name="text-5">
            <a:extLst xmlns:a="http://schemas.openxmlformats.org/drawingml/2006/main">
              <a:ext uri="{FF2B5EF4-FFF2-40B4-BE49-F238E27FC236}">
                <a16:creationId xmlns:a16="http://schemas.microsoft.com/office/drawing/2014/main" id="{104D3D1B-D4AB-46D9-A74A-B05ADDE23482}"/>
              </a:ext>
            </a:extLst>
          </p:cNvPr>
          <p:cNvSpPr>
            <a:spLocks xmlns:a="http://schemas.openxmlformats.org/drawingml/2006/main" noGrp="1"/>
          </p:cNvSpPr>
          <p:nvPr/>
        </p:nvSpPr>
        <p:spPr>
          <a:xfrm xmlns:a="http://schemas.openxmlformats.org/drawingml/2006/main">
            <a:off x="7219950" y="2447925"/>
            <a:ext cx="4333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1">
                <a:solidFill>
                  <a:srgbClr val="D75C27"/>
                </a:solidFill>
                <a:latin typeface="DejaVu Sans"/>
                <a:ea typeface="DejaVu Sans"/>
                <a:cs typeface="DejaVu Sans"/>
              </a:defRPr>
            </a:defPPr>
          </a:lstStyle>
          <a:p xmlns:a="http://schemas.openxmlformats.org/drawingml/2006/main">
            <a:pPr>
              <a:defRPr sz="3000" b="1">
                <a:solidFill>
                  <a:srgbClr val="D75C27"/>
                </a:solidFill>
                <a:latin typeface="DejaVu Sans"/>
                <a:ea typeface="DejaVu Sans"/>
                <a:cs typeface="DejaVu Sans"/>
              </a:defRPr>
            </a:pPr>
            <a:r>
              <a:rPr sz="3000" b="1">
                <a:solidFill>
                  <a:srgbClr val="D75C27"/>
                </a:solidFill>
                <a:latin typeface="DejaVu Sans"/>
                <a:ea typeface="DejaVu Sans"/>
                <a:cs typeface="DejaVu Sans"/>
              </a:rPr>
              <a:t>8 recovered sales</a:t>
            </a:r>
          </a:p>
        </p:txBody>
      </p:sp>
      <p:sp>
        <p:nvSpPr>
          <p:cNvPr id="7" name="text-6">
            <a:extLst xmlns:a="http://schemas.openxmlformats.org/drawingml/2006/main">
              <a:ext uri="{FF2B5EF4-FFF2-40B4-BE49-F238E27FC236}">
                <a16:creationId xmlns:a16="http://schemas.microsoft.com/office/drawing/2014/main" id="{F6F4A6C1-1651-4E6B-B75A-A3700A012630}"/>
              </a:ext>
            </a:extLst>
          </p:cNvPr>
          <p:cNvSpPr>
            <a:spLocks xmlns:a="http://schemas.openxmlformats.org/drawingml/2006/main" noGrp="1"/>
          </p:cNvSpPr>
          <p:nvPr/>
        </p:nvSpPr>
        <p:spPr>
          <a:xfrm xmlns:a="http://schemas.openxmlformats.org/drawingml/2006/main">
            <a:off x="7219950" y="3238500"/>
            <a:ext cx="4333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01C40"/>
                </a:solidFill>
                <a:latin typeface="DejaVu Sans"/>
                <a:ea typeface="DejaVu Sans"/>
                <a:cs typeface="DejaVu Sans"/>
              </a:defRPr>
            </a:defPPr>
          </a:lstStyle>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could cover BRL 79/month</a:t>
            </a:r>
          </a:p>
        </p:txBody>
      </p:sp>
      <p:sp>
        <p:nvSpPr>
          <p:cNvPr id="8" name="text-7">
            <a:extLst xmlns:a="http://schemas.openxmlformats.org/drawingml/2006/main">
              <a:ext uri="{FF2B5EF4-FFF2-40B4-BE49-F238E27FC236}">
                <a16:creationId xmlns:a16="http://schemas.microsoft.com/office/drawing/2014/main" id="{1EFD35CF-CDB3-48D8-97DB-1DB8A1AA8BA2}"/>
              </a:ext>
            </a:extLst>
          </p:cNvPr>
          <p:cNvSpPr>
            <a:spLocks xmlns:a="http://schemas.openxmlformats.org/drawingml/2006/main" noGrp="1"/>
          </p:cNvSpPr>
          <p:nvPr/>
        </p:nvSpPr>
        <p:spPr>
          <a:xfrm xmlns:a="http://schemas.openxmlformats.org/drawingml/2006/main">
            <a:off x="7219950" y="4124325"/>
            <a:ext cx="433387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596989"/>
                </a:solidFill>
                <a:latin typeface="DejaVu Sans"/>
                <a:ea typeface="DejaVu Sans"/>
                <a:cs typeface="DejaVu Sans"/>
              </a:defRPr>
            </a:defPPr>
          </a:lstStyle>
          <a:p xmlns:a="http://schemas.openxmlformats.org/drawingml/2006/main">
            <a:pPr>
              <a:defRPr sz="1875" b="0">
                <a:solidFill>
                  <a:srgbClr val="596989"/>
                </a:solidFill>
                <a:latin typeface="DejaVu Sans"/>
                <a:ea typeface="DejaVu Sans"/>
                <a:cs typeface="DejaVu Sans"/>
              </a:defRPr>
            </a:pPr>
            <a:r>
              <a:rPr sz="1875" b="0">
                <a:solidFill>
                  <a:srgbClr val="596989"/>
                </a:solidFill>
                <a:latin typeface="DejaVu Sans"/>
                <a:ea typeface="DejaVu Sans"/>
                <a:cs typeface="DejaVu Sans"/>
              </a:rPr>
              <a:t>Illustration: BRL 25 ticket</a:t>
            </a:r>
          </a:p>
          <a:p xmlns:a="http://schemas.openxmlformats.org/drawingml/2006/main">
            <a:pPr>
              <a:defRPr sz="1875" b="0">
                <a:solidFill>
                  <a:srgbClr val="596989"/>
                </a:solidFill>
                <a:latin typeface="DejaVu Sans"/>
                <a:ea typeface="DejaVu Sans"/>
                <a:cs typeface="DejaVu Sans"/>
              </a:defRPr>
            </a:pPr>
            <a:r>
              <a:rPr sz="1875" b="0">
                <a:solidFill>
                  <a:srgbClr val="596989"/>
                </a:solidFill>
                <a:latin typeface="DejaVu Sans"/>
                <a:ea typeface="DejaVu Sans"/>
                <a:cs typeface="DejaVu Sans"/>
              </a:rPr>
              <a:t>and 40% contribution margin.</a:t>
            </a:r>
          </a:p>
          <a:p xmlns:a="http://schemas.openxmlformats.org/drawingml/2006/main">
            <a:pPr>
              <a:defRPr sz="1875" b="0">
                <a:solidFill>
                  <a:srgbClr val="596989"/>
                </a:solidFill>
                <a:latin typeface="DejaVu Sans"/>
                <a:ea typeface="DejaVu Sans"/>
                <a:cs typeface="DejaVu Sans"/>
              </a:defRPr>
            </a:pPr>
            <a:r>
              <a:rPr sz="1875" b="0">
                <a:solidFill>
                  <a:srgbClr val="596989"/>
                </a:solidFill>
                <a:latin typeface="DejaVu Sans"/>
                <a:ea typeface="DejaVu Sans"/>
                <a:cs typeface="DejaVu Sans"/>
              </a:rPr>
              <a:t>BRL 10 contribution per sale.</a:t>
            </a:r>
          </a:p>
        </p:txBody>
      </p:sp>
      <p:sp>
        <p:nvSpPr>
          <p:cNvPr id="9" name="text-8">
            <a:extLst xmlns:a="http://schemas.openxmlformats.org/drawingml/2006/main">
              <a:ext uri="{FF2B5EF4-FFF2-40B4-BE49-F238E27FC236}">
                <a16:creationId xmlns:a16="http://schemas.microsoft.com/office/drawing/2014/main" id="{3A2AF685-6B66-4359-872F-AE84CC2272CF}"/>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Illustrative economics before fees, support costs and failed-settlement losses.</a:t>
            </a:r>
          </a:p>
        </p:txBody>
      </p:sp>
      <p:pic xmlns:a="http://schemas.openxmlformats.org/drawingml/2006/main" xmlns:r="http://schemas.openxmlformats.org/officeDocument/2006/relationships">
        <p:nvPicPr>
          <p:cNvPr id="10" name="Picture 9"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1" name="TextBox 10"/>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2" name="Rectangle 11"/>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125465371"/>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B463FCB2-D144-4FCA-8823-CA03CDA2A920}"/>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Brazil’s small-ticket payment market</a:t>
            </a:r>
          </a:p>
        </p:txBody>
      </p:sp>
      <p:sp>
        <p:nvSpPr>
          <p:cNvPr id="3" name="text-2">
            <a:extLst xmlns:a="http://schemas.openxmlformats.org/drawingml/2006/main">
              <a:ext uri="{FF2B5EF4-FFF2-40B4-BE49-F238E27FC236}">
                <a16:creationId xmlns:a16="http://schemas.microsoft.com/office/drawing/2014/main" id="{CB77A69F-DE52-4BB0-A290-95CF759E0D37}"/>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04</a:t>
            </a:r>
          </a:p>
        </p:txBody>
      </p:sp>
      <p:sp>
        <p:nvSpPr>
          <p:cNvPr id="4" name="text-3">
            <a:extLst xmlns:a="http://schemas.openxmlformats.org/drawingml/2006/main">
              <a:ext uri="{FF2B5EF4-FFF2-40B4-BE49-F238E27FC236}">
                <a16:creationId xmlns:a16="http://schemas.microsoft.com/office/drawing/2014/main" id="{EA51C7A0-AE33-48CB-9917-BB9248A13ED8}"/>
              </a:ext>
            </a:extLst>
          </p:cNvPr>
          <p:cNvSpPr>
            <a:spLocks xmlns:a="http://schemas.openxmlformats.org/drawingml/2006/main" noGrp="1"/>
          </p:cNvSpPr>
          <p:nvPr/>
        </p:nvSpPr>
        <p:spPr>
          <a:xfrm xmlns:a="http://schemas.openxmlformats.org/drawingml/2006/main">
            <a:off x="609600" y="2524125"/>
            <a:ext cx="5257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293DFF"/>
                </a:solidFill>
                <a:latin typeface="DejaVu Sans"/>
                <a:ea typeface="DejaVu Sans"/>
                <a:cs typeface="DejaVu Sans"/>
              </a:defRPr>
            </a:defPPr>
          </a:lstStyle>
          <a:p xmlns:a="http://schemas.openxmlformats.org/drawingml/2006/main">
            <a:pPr>
              <a:defRPr sz="4800" b="1">
                <a:solidFill>
                  <a:srgbClr val="293DFF"/>
                </a:solidFill>
                <a:latin typeface="DejaVu Sans"/>
                <a:ea typeface="DejaVu Sans"/>
                <a:cs typeface="DejaVu Sans"/>
              </a:defRPr>
            </a:pPr>
            <a:r>
              <a:rPr sz="4800" b="1">
                <a:solidFill>
                  <a:srgbClr val="293DFF"/>
                </a:solidFill>
                <a:latin typeface="DejaVu Sans"/>
                <a:ea typeface="DejaVu Sans"/>
                <a:cs typeface="DejaVu Sans"/>
              </a:rPr>
              <a:t>24 million</a:t>
            </a:r>
          </a:p>
        </p:txBody>
      </p:sp>
      <p:sp>
        <p:nvSpPr>
          <p:cNvPr id="5" name="text-4">
            <a:extLst xmlns:a="http://schemas.openxmlformats.org/drawingml/2006/main">
              <a:ext uri="{FF2B5EF4-FFF2-40B4-BE49-F238E27FC236}">
                <a16:creationId xmlns:a16="http://schemas.microsoft.com/office/drawing/2014/main" id="{B8AA753C-B3CB-45A6-A6AB-2812CE5AE158}"/>
              </a:ext>
            </a:extLst>
          </p:cNvPr>
          <p:cNvSpPr>
            <a:spLocks xmlns:a="http://schemas.openxmlformats.org/drawingml/2006/main" noGrp="1"/>
          </p:cNvSpPr>
          <p:nvPr/>
        </p:nvSpPr>
        <p:spPr>
          <a:xfrm xmlns:a="http://schemas.openxmlformats.org/drawingml/2006/main">
            <a:off x="609600" y="3648075"/>
            <a:ext cx="5257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01C40"/>
                </a:solidFill>
                <a:latin typeface="DejaVu Sans"/>
                <a:ea typeface="DejaVu Sans"/>
                <a:cs typeface="DejaVu Sans"/>
              </a:defRPr>
            </a:defPPr>
          </a:lstStyle>
          <a:p xmlns:a="http://schemas.openxmlformats.org/drawingml/2006/main">
            <a:pPr>
              <a:defRPr sz="2325" b="0">
                <a:solidFill>
                  <a:srgbClr val="101C40"/>
                </a:solidFill>
                <a:latin typeface="DejaVu Sans"/>
                <a:ea typeface="DejaVu Sans"/>
                <a:cs typeface="DejaVu Sans"/>
              </a:defRPr>
            </a:pPr>
            <a:r>
              <a:rPr sz="2325" b="0">
                <a:solidFill>
                  <a:srgbClr val="101C40"/>
                </a:solidFill>
                <a:latin typeface="DejaVu Sans"/>
                <a:ea typeface="DejaVu Sans"/>
                <a:cs typeface="DejaVu Sans"/>
              </a:rPr>
              <a:t>active small businesses</a:t>
            </a:r>
          </a:p>
          <a:p xmlns:a="http://schemas.openxmlformats.org/drawingml/2006/main">
            <a:pPr>
              <a:defRPr sz="2325" b="0">
                <a:solidFill>
                  <a:srgbClr val="101C40"/>
                </a:solidFill>
                <a:latin typeface="DejaVu Sans"/>
                <a:ea typeface="DejaVu Sans"/>
                <a:cs typeface="DejaVu Sans"/>
              </a:defRPr>
            </a:pPr>
            <a:r>
              <a:rPr sz="2325" b="0">
                <a:solidFill>
                  <a:srgbClr val="101C40"/>
                </a:solidFill>
                <a:latin typeface="DejaVu Sans"/>
                <a:ea typeface="DejaVu Sans"/>
                <a:cs typeface="DejaVu Sans"/>
              </a:rPr>
              <a:t>in Brazil</a:t>
            </a:r>
          </a:p>
        </p:txBody>
      </p:sp>
      <p:sp>
        <p:nvSpPr>
          <p:cNvPr id="6" name="text-5">
            <a:extLst xmlns:a="http://schemas.openxmlformats.org/drawingml/2006/main">
              <a:ext uri="{FF2B5EF4-FFF2-40B4-BE49-F238E27FC236}">
                <a16:creationId xmlns:a16="http://schemas.microsoft.com/office/drawing/2014/main" id="{3BE17CC6-223A-487D-B89D-6D52C5E91244}"/>
              </a:ext>
            </a:extLst>
          </p:cNvPr>
          <p:cNvSpPr>
            <a:spLocks xmlns:a="http://schemas.openxmlformats.org/drawingml/2006/main" noGrp="1"/>
          </p:cNvSpPr>
          <p:nvPr/>
        </p:nvSpPr>
        <p:spPr>
          <a:xfrm xmlns:a="http://schemas.openxmlformats.org/drawingml/2006/main">
            <a:off x="6848475" y="2524125"/>
            <a:ext cx="4714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800" b="1">
                <a:solidFill>
                  <a:srgbClr val="293DFF"/>
                </a:solidFill>
                <a:latin typeface="DejaVu Sans"/>
                <a:ea typeface="DejaVu Sans"/>
                <a:cs typeface="DejaVu Sans"/>
              </a:defRPr>
            </a:defPPr>
          </a:lstStyle>
          <a:p xmlns:a="http://schemas.openxmlformats.org/drawingml/2006/main">
            <a:pPr>
              <a:defRPr sz="4800" b="1">
                <a:solidFill>
                  <a:srgbClr val="293DFF"/>
                </a:solidFill>
                <a:latin typeface="DejaVu Sans"/>
                <a:ea typeface="DejaVu Sans"/>
                <a:cs typeface="DejaVu Sans"/>
              </a:defRPr>
            </a:pPr>
            <a:r>
              <a:rPr sz="4800" b="1">
                <a:solidFill>
                  <a:srgbClr val="293DFF"/>
                </a:solidFill>
                <a:latin typeface="DejaVu Sans"/>
                <a:ea typeface="DejaVu Sans"/>
                <a:cs typeface="DejaVu Sans"/>
              </a:rPr>
              <a:t>76%</a:t>
            </a:r>
          </a:p>
        </p:txBody>
      </p:sp>
      <p:sp>
        <p:nvSpPr>
          <p:cNvPr id="7" name="text-6">
            <a:extLst xmlns:a="http://schemas.openxmlformats.org/drawingml/2006/main">
              <a:ext uri="{FF2B5EF4-FFF2-40B4-BE49-F238E27FC236}">
                <a16:creationId xmlns:a16="http://schemas.microsoft.com/office/drawing/2014/main" id="{77F62C12-133B-4256-8EF5-1C9AE09504C9}"/>
              </a:ext>
            </a:extLst>
          </p:cNvPr>
          <p:cNvSpPr>
            <a:spLocks xmlns:a="http://schemas.openxmlformats.org/drawingml/2006/main" noGrp="1"/>
          </p:cNvSpPr>
          <p:nvPr/>
        </p:nvSpPr>
        <p:spPr>
          <a:xfrm xmlns:a="http://schemas.openxmlformats.org/drawingml/2006/main">
            <a:off x="6848475" y="3648075"/>
            <a:ext cx="47148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01C40"/>
                </a:solidFill>
                <a:latin typeface="DejaVu Sans"/>
                <a:ea typeface="DejaVu Sans"/>
                <a:cs typeface="DejaVu Sans"/>
              </a:defRPr>
            </a:defPPr>
          </a:lstStyle>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of Pix transactions between</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individuals and businesses</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were up to BRL 60 in 2025</a:t>
            </a:r>
          </a:p>
        </p:txBody>
      </p:sp>
      <p:sp>
        <p:nvSpPr>
          <p:cNvPr id="8" name="text-7">
            <a:extLst xmlns:a="http://schemas.openxmlformats.org/drawingml/2006/main">
              <a:ext uri="{FF2B5EF4-FFF2-40B4-BE49-F238E27FC236}">
                <a16:creationId xmlns:a16="http://schemas.microsoft.com/office/drawing/2014/main" id="{4445908C-0AD0-447E-941E-ECD8B1BDD461}"/>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Sources: Sebrae, June 2026. Banco Central do Brasil, Pix report 2023–2025, p.14.</a:t>
            </a:r>
          </a:p>
        </p:txBody>
      </p:sp>
      <p:pic xmlns:a="http://schemas.openxmlformats.org/drawingml/2006/main" xmlns:r="http://schemas.openxmlformats.org/officeDocument/2006/relationships">
        <p:nvPicPr>
          <p:cNvPr id="9" name="Picture 8"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0" name="TextBox 9"/>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1" name="Rectangle 10"/>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098911524"/>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4020BCB7-240E-46BC-9524-D7979C18D1E3}"/>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The first addressable customer</a:t>
            </a:r>
          </a:p>
        </p:txBody>
      </p:sp>
      <p:sp>
        <p:nvSpPr>
          <p:cNvPr id="3" name="text-2">
            <a:extLst xmlns:a="http://schemas.openxmlformats.org/drawingml/2006/main">
              <a:ext uri="{FF2B5EF4-FFF2-40B4-BE49-F238E27FC236}">
                <a16:creationId xmlns:a16="http://schemas.microsoft.com/office/drawing/2014/main" id="{A30244CF-F70E-40B2-80C8-AE34213659A8}"/>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05</a:t>
            </a:r>
          </a:p>
        </p:txBody>
      </p:sp>
      <p:sp>
        <p:nvSpPr>
          <p:cNvPr id="4" name="text-3">
            <a:extLst xmlns:a="http://schemas.openxmlformats.org/drawingml/2006/main">
              <a:ext uri="{FF2B5EF4-FFF2-40B4-BE49-F238E27FC236}">
                <a16:creationId xmlns:a16="http://schemas.microsoft.com/office/drawing/2014/main" id="{3B9637D6-3F73-44E4-8312-ABBEBAC090E2}"/>
              </a:ext>
            </a:extLst>
          </p:cNvPr>
          <p:cNvSpPr>
            <a:spLocks xmlns:a="http://schemas.openxmlformats.org/drawingml/2006/main" noGrp="1"/>
          </p:cNvSpPr>
          <p:nvPr/>
        </p:nvSpPr>
        <p:spPr>
          <a:xfrm xmlns:a="http://schemas.openxmlformats.org/drawingml/2006/main">
            <a:off x="609600" y="24384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Initial segment</a:t>
            </a:r>
          </a:p>
        </p:txBody>
      </p:sp>
      <p:sp>
        <p:nvSpPr>
          <p:cNvPr id="5" name="text-4">
            <a:extLst xmlns:a="http://schemas.openxmlformats.org/drawingml/2006/main">
              <a:ext uri="{FF2B5EF4-FFF2-40B4-BE49-F238E27FC236}">
                <a16:creationId xmlns:a16="http://schemas.microsoft.com/office/drawing/2014/main" id="{ABC73649-1CE1-4C09-8C58-B50BE7F4A3B3}"/>
              </a:ext>
            </a:extLst>
          </p:cNvPr>
          <p:cNvSpPr>
            <a:spLocks xmlns:a="http://schemas.openxmlformats.org/drawingml/2006/main" noGrp="1"/>
          </p:cNvSpPr>
          <p:nvPr/>
        </p:nvSpPr>
        <p:spPr>
          <a:xfrm xmlns:a="http://schemas.openxmlformats.org/drawingml/2006/main">
            <a:off x="3714750" y="243840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Cafés and independent food vendors in São Paulo.</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Small purchases where waiting can disrupt checkout.</a:t>
            </a:r>
          </a:p>
        </p:txBody>
      </p:sp>
      <p:sp>
        <p:nvSpPr>
          <p:cNvPr id="6" name="text-5">
            <a:extLst xmlns:a="http://schemas.openxmlformats.org/drawingml/2006/main">
              <a:ext uri="{FF2B5EF4-FFF2-40B4-BE49-F238E27FC236}">
                <a16:creationId xmlns:a16="http://schemas.microsoft.com/office/drawing/2014/main" id="{69BEEC1C-59D7-49A9-9098-CBD6821F9FF5}"/>
              </a:ext>
            </a:extLst>
          </p:cNvPr>
          <p:cNvSpPr>
            <a:spLocks xmlns:a="http://schemas.openxmlformats.org/drawingml/2006/main" noGrp="1"/>
          </p:cNvSpPr>
          <p:nvPr/>
        </p:nvSpPr>
        <p:spPr>
          <a:xfrm xmlns:a="http://schemas.openxmlformats.org/drawingml/2006/main">
            <a:off x="609600" y="357187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Qualification</a:t>
            </a:r>
          </a:p>
        </p:txBody>
      </p:sp>
      <p:sp>
        <p:nvSpPr>
          <p:cNvPr id="7" name="text-6">
            <a:extLst xmlns:a="http://schemas.openxmlformats.org/drawingml/2006/main">
              <a:ext uri="{FF2B5EF4-FFF2-40B4-BE49-F238E27FC236}">
                <a16:creationId xmlns:a16="http://schemas.microsoft.com/office/drawing/2014/main" id="{A190926C-0F02-44AB-93B1-51B05740379A}"/>
              </a:ext>
            </a:extLst>
          </p:cNvPr>
          <p:cNvSpPr>
            <a:spLocks xmlns:a="http://schemas.openxmlformats.org/drawingml/2006/main" noGrp="1"/>
          </p:cNvSpPr>
          <p:nvPr/>
        </p:nvSpPr>
        <p:spPr>
          <a:xfrm xmlns:a="http://schemas.openxmlformats.org/drawingml/2006/main">
            <a:off x="3714750" y="3571875"/>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Recurring connectivity interruptions, compatible phones</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and willingness to accept pending settlement.</a:t>
            </a:r>
          </a:p>
        </p:txBody>
      </p:sp>
      <p:sp>
        <p:nvSpPr>
          <p:cNvPr id="8" name="text-7">
            <a:extLst xmlns:a="http://schemas.openxmlformats.org/drawingml/2006/main">
              <a:ext uri="{FF2B5EF4-FFF2-40B4-BE49-F238E27FC236}">
                <a16:creationId xmlns:a16="http://schemas.microsoft.com/office/drawing/2014/main" id="{A450C3BC-7A5C-4051-9066-E188AC91092C}"/>
              </a:ext>
            </a:extLst>
          </p:cNvPr>
          <p:cNvSpPr>
            <a:spLocks xmlns:a="http://schemas.openxmlformats.org/drawingml/2006/main" noGrp="1"/>
          </p:cNvSpPr>
          <p:nvPr/>
        </p:nvSpPr>
        <p:spPr>
          <a:xfrm xmlns:a="http://schemas.openxmlformats.org/drawingml/2006/main">
            <a:off x="609600" y="470535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First scale target</a:t>
            </a:r>
          </a:p>
        </p:txBody>
      </p:sp>
      <p:sp>
        <p:nvSpPr>
          <p:cNvPr id="9" name="text-8">
            <a:extLst xmlns:a="http://schemas.openxmlformats.org/drawingml/2006/main">
              <a:ext uri="{FF2B5EF4-FFF2-40B4-BE49-F238E27FC236}">
                <a16:creationId xmlns:a16="http://schemas.microsoft.com/office/drawing/2014/main" id="{8C65632B-65D2-4E16-B899-57C03B2A93DA}"/>
              </a:ext>
            </a:extLst>
          </p:cNvPr>
          <p:cNvSpPr>
            <a:spLocks xmlns:a="http://schemas.openxmlformats.org/drawingml/2006/main" noGrp="1"/>
          </p:cNvSpPr>
          <p:nvPr/>
        </p:nvSpPr>
        <p:spPr>
          <a:xfrm xmlns:a="http://schemas.openxmlformats.org/drawingml/2006/main">
            <a:off x="3714750" y="470535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100 paying locations after pilot validation.</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The reachable merchant count still needs research.</a:t>
            </a:r>
          </a:p>
        </p:txBody>
      </p:sp>
      <p:sp>
        <p:nvSpPr>
          <p:cNvPr id="10" name="text-9">
            <a:extLst xmlns:a="http://schemas.openxmlformats.org/drawingml/2006/main">
              <a:ext uri="{FF2B5EF4-FFF2-40B4-BE49-F238E27FC236}">
                <a16:creationId xmlns:a16="http://schemas.microsoft.com/office/drawing/2014/main" id="{56A5EFF8-83BE-49A9-BE5C-1CC34062F96D}"/>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Expansion hypothesis: merchant software distribution, then other Brazilian cities.</a:t>
            </a:r>
          </a:p>
        </p:txBody>
      </p:sp>
      <p:pic xmlns:a="http://schemas.openxmlformats.org/drawingml/2006/main" xmlns:r="http://schemas.openxmlformats.org/officeDocument/2006/relationships">
        <p:nvPicPr>
          <p:cNvPr id="11" name="Picture 10"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2" name="TextBox 11"/>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3" name="Rectangle 12"/>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584238144"/>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C61FC6A6-FA94-40A4-A299-D2FC69D35D92}"/>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How ShimoPay addresses the problem</a:t>
            </a:r>
          </a:p>
        </p:txBody>
      </p:sp>
      <p:sp>
        <p:nvSpPr>
          <p:cNvPr id="3" name="text-2">
            <a:extLst xmlns:a="http://schemas.openxmlformats.org/drawingml/2006/main">
              <a:ext uri="{FF2B5EF4-FFF2-40B4-BE49-F238E27FC236}">
                <a16:creationId xmlns:a16="http://schemas.microsoft.com/office/drawing/2014/main" id="{6EEBF7E6-E328-4389-BFB2-9F971287F7AB}"/>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06</a:t>
            </a:r>
          </a:p>
        </p:txBody>
      </p:sp>
      <p:sp>
        <p:nvSpPr>
          <p:cNvPr id="4" name="text-3">
            <a:extLst xmlns:a="http://schemas.openxmlformats.org/drawingml/2006/main">
              <a:ext uri="{FF2B5EF4-FFF2-40B4-BE49-F238E27FC236}">
                <a16:creationId xmlns:a16="http://schemas.microsoft.com/office/drawing/2014/main" id="{1915F694-AECA-47F3-BC28-BF1FFA00F653}"/>
              </a:ext>
            </a:extLst>
          </p:cNvPr>
          <p:cNvSpPr>
            <a:spLocks xmlns:a="http://schemas.openxmlformats.org/drawingml/2006/main" noGrp="1"/>
          </p:cNvSpPr>
          <p:nvPr/>
        </p:nvSpPr>
        <p:spPr>
          <a:xfrm xmlns:a="http://schemas.openxmlformats.org/drawingml/2006/main">
            <a:off x="609600" y="242887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01  Prepare online</a:t>
            </a:r>
          </a:p>
        </p:txBody>
      </p:sp>
      <p:sp>
        <p:nvSpPr>
          <p:cNvPr id="5" name="text-4">
            <a:extLst xmlns:a="http://schemas.openxmlformats.org/drawingml/2006/main">
              <a:ext uri="{FF2B5EF4-FFF2-40B4-BE49-F238E27FC236}">
                <a16:creationId xmlns:a16="http://schemas.microsoft.com/office/drawing/2014/main" id="{D50E101D-F0F5-4EA3-BA62-215E38C09434}"/>
              </a:ext>
            </a:extLst>
          </p:cNvPr>
          <p:cNvSpPr>
            <a:spLocks xmlns:a="http://schemas.openxmlformats.org/drawingml/2006/main" noGrp="1"/>
          </p:cNvSpPr>
          <p:nvPr/>
        </p:nvSpPr>
        <p:spPr>
          <a:xfrm xmlns:a="http://schemas.openxmlformats.org/drawingml/2006/main">
            <a:off x="3714750" y="2428875"/>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The customer reserves a spending allowance in escrow.</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The merchant caches the session policy.</a:t>
            </a:r>
          </a:p>
        </p:txBody>
      </p:sp>
      <p:sp>
        <p:nvSpPr>
          <p:cNvPr id="6" name="text-5">
            <a:extLst xmlns:a="http://schemas.openxmlformats.org/drawingml/2006/main">
              <a:ext uri="{FF2B5EF4-FFF2-40B4-BE49-F238E27FC236}">
                <a16:creationId xmlns:a16="http://schemas.microsoft.com/office/drawing/2014/main" id="{E7353844-68B5-4D21-85C6-E787C3A437EE}"/>
              </a:ext>
            </a:extLst>
          </p:cNvPr>
          <p:cNvSpPr>
            <a:spLocks xmlns:a="http://schemas.openxmlformats.org/drawingml/2006/main" noGrp="1"/>
          </p:cNvSpPr>
          <p:nvPr/>
        </p:nvSpPr>
        <p:spPr>
          <a:xfrm xmlns:a="http://schemas.openxmlformats.org/drawingml/2006/main">
            <a:off x="609600" y="356235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02  Authorize offline</a:t>
            </a:r>
          </a:p>
        </p:txBody>
      </p:sp>
      <p:sp>
        <p:nvSpPr>
          <p:cNvPr id="7" name="text-6">
            <a:extLst xmlns:a="http://schemas.openxmlformats.org/drawingml/2006/main">
              <a:ext uri="{FF2B5EF4-FFF2-40B4-BE49-F238E27FC236}">
                <a16:creationId xmlns:a16="http://schemas.microsoft.com/office/drawing/2014/main" id="{4C4155B8-07F6-401E-AA06-D983E6DDEF24}"/>
              </a:ext>
            </a:extLst>
          </p:cNvPr>
          <p:cNvSpPr>
            <a:spLocks xmlns:a="http://schemas.openxmlformats.org/drawingml/2006/main" noGrp="1"/>
          </p:cNvSpPr>
          <p:nvPr/>
        </p:nvSpPr>
        <p:spPr>
          <a:xfrm xmlns:a="http://schemas.openxmlformats.org/drawingml/2006/main">
            <a:off x="3714750" y="356235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The customer signs locally and shares a QR or envelope.</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The merchant verifies and records pending settlement.</a:t>
            </a:r>
          </a:p>
        </p:txBody>
      </p:sp>
      <p:sp>
        <p:nvSpPr>
          <p:cNvPr id="8" name="text-7">
            <a:extLst xmlns:a="http://schemas.openxmlformats.org/drawingml/2006/main">
              <a:ext uri="{FF2B5EF4-FFF2-40B4-BE49-F238E27FC236}">
                <a16:creationId xmlns:a16="http://schemas.microsoft.com/office/drawing/2014/main" id="{B897B5C7-9D54-4AC1-B67A-924077866349}"/>
              </a:ext>
            </a:extLst>
          </p:cNvPr>
          <p:cNvSpPr>
            <a:spLocks xmlns:a="http://schemas.openxmlformats.org/drawingml/2006/main" noGrp="1"/>
          </p:cNvSpPr>
          <p:nvPr/>
        </p:nvSpPr>
        <p:spPr>
          <a:xfrm xmlns:a="http://schemas.openxmlformats.org/drawingml/2006/main">
            <a:off x="609600" y="469582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03  Settle online</a:t>
            </a:r>
          </a:p>
        </p:txBody>
      </p:sp>
      <p:sp>
        <p:nvSpPr>
          <p:cNvPr id="9" name="text-8">
            <a:extLst xmlns:a="http://schemas.openxmlformats.org/drawingml/2006/main">
              <a:ext uri="{FF2B5EF4-FFF2-40B4-BE49-F238E27FC236}">
                <a16:creationId xmlns:a16="http://schemas.microsoft.com/office/drawing/2014/main" id="{1354D1E8-2952-4699-9B05-128E232E1164}"/>
              </a:ext>
            </a:extLst>
          </p:cNvPr>
          <p:cNvSpPr>
            <a:spLocks xmlns:a="http://schemas.openxmlformats.org/drawingml/2006/main" noGrp="1"/>
          </p:cNvSpPr>
          <p:nvPr/>
        </p:nvSpPr>
        <p:spPr>
          <a:xfrm xmlns:a="http://schemas.openxmlformats.org/drawingml/2006/main">
            <a:off x="3714750" y="4695825"/>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Either party reconnects to submit the payment.</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Solana transfers USDC and provides an on-chain receipt.</a:t>
            </a:r>
          </a:p>
        </p:txBody>
      </p:sp>
      <p:sp>
        <p:nvSpPr>
          <p:cNvPr id="10" name="text-9">
            <a:extLst xmlns:a="http://schemas.openxmlformats.org/drawingml/2006/main">
              <a:ext uri="{FF2B5EF4-FFF2-40B4-BE49-F238E27FC236}">
                <a16:creationId xmlns:a16="http://schemas.microsoft.com/office/drawing/2014/main" id="{6F0271E8-F5D5-468F-838A-C5BB466A5BBE}"/>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Pending acceptance carries risk until settlement. Current implementation uses test USDC.</a:t>
            </a:r>
          </a:p>
        </p:txBody>
      </p:sp>
      <p:pic xmlns:a="http://schemas.openxmlformats.org/drawingml/2006/main" xmlns:r="http://schemas.openxmlformats.org/officeDocument/2006/relationships">
        <p:nvPicPr>
          <p:cNvPr id="11" name="Picture 10"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2" name="TextBox 11"/>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3" name="Rectangle 12"/>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090718276"/>
      </p:ext>
    </p:extLst>
  </p:cSld>
</p:sld>
</file>

<file path=ppt/slides/slide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DE81E6F1-4BF3-4F43-B8AE-D9C382EAD6B9}"/>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The customer and merchant product</a:t>
            </a:r>
          </a:p>
        </p:txBody>
      </p:sp>
      <p:sp>
        <p:nvSpPr>
          <p:cNvPr id="3" name="text-2">
            <a:extLst xmlns:a="http://schemas.openxmlformats.org/drawingml/2006/main">
              <a:ext uri="{FF2B5EF4-FFF2-40B4-BE49-F238E27FC236}">
                <a16:creationId xmlns:a16="http://schemas.microsoft.com/office/drawing/2014/main" id="{EFA01BFC-3FFF-4FA7-8E6B-DAAF1F3C8FB8}"/>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07</a:t>
            </a:r>
          </a:p>
        </p:txBody>
      </p:sp>
      <p:sp>
        <p:nvSpPr>
          <p:cNvPr id="4" name="text-3">
            <a:extLst xmlns:a="http://schemas.openxmlformats.org/drawingml/2006/main">
              <a:ext uri="{FF2B5EF4-FFF2-40B4-BE49-F238E27FC236}">
                <a16:creationId xmlns:a16="http://schemas.microsoft.com/office/drawing/2014/main" id="{172856DE-FDB9-4759-B0D5-86FF46BD27A4}"/>
              </a:ext>
            </a:extLst>
          </p:cNvPr>
          <p:cNvSpPr>
            <a:spLocks xmlns:a="http://schemas.openxmlformats.org/drawingml/2006/main" noGrp="1"/>
          </p:cNvSpPr>
          <p:nvPr/>
        </p:nvSpPr>
        <p:spPr>
          <a:xfrm xmlns:a="http://schemas.openxmlformats.org/drawingml/2006/main">
            <a:off x="609600" y="221932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93DFF"/>
                </a:solidFill>
                <a:latin typeface="DejaVu Sans"/>
                <a:ea typeface="DejaVu Sans"/>
                <a:cs typeface="DejaVu Sans"/>
              </a:defRPr>
            </a:defPPr>
          </a:lstStyle>
          <a:p xmlns:a="http://schemas.openxmlformats.org/drawingml/2006/main">
            <a:pPr>
              <a:defRPr sz="1875" b="1">
                <a:solidFill>
                  <a:srgbClr val="293DFF"/>
                </a:solidFill>
                <a:latin typeface="DejaVu Sans"/>
                <a:ea typeface="DejaVu Sans"/>
                <a:cs typeface="DejaVu Sans"/>
              </a:defRPr>
            </a:pPr>
            <a:r>
              <a:rPr sz="1875" b="1">
                <a:solidFill>
                  <a:srgbClr val="293DFF"/>
                </a:solidFill>
                <a:latin typeface="DejaVu Sans"/>
                <a:ea typeface="DejaVu Sans"/>
                <a:cs typeface="DejaVu Sans"/>
              </a:rPr>
              <a:t>Customer reviews the purchase</a:t>
            </a:r>
          </a:p>
        </p:txBody>
      </p:sp>
      <p:sp>
        <p:nvSpPr>
          <p:cNvPr id="5" name="text-4">
            <a:extLst xmlns:a="http://schemas.openxmlformats.org/drawingml/2006/main">
              <a:ext uri="{FF2B5EF4-FFF2-40B4-BE49-F238E27FC236}">
                <a16:creationId xmlns:a16="http://schemas.microsoft.com/office/drawing/2014/main" id="{1951D929-BD0A-4E9B-83DD-FF09B760963B}"/>
              </a:ext>
            </a:extLst>
          </p:cNvPr>
          <p:cNvSpPr>
            <a:spLocks xmlns:a="http://schemas.openxmlformats.org/drawingml/2006/main" noGrp="1"/>
          </p:cNvSpPr>
          <p:nvPr/>
        </p:nvSpPr>
        <p:spPr>
          <a:xfrm xmlns:a="http://schemas.openxmlformats.org/drawingml/2006/main">
            <a:off x="6324600" y="221932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293DFF"/>
                </a:solidFill>
                <a:latin typeface="DejaVu Sans"/>
                <a:ea typeface="DejaVu Sans"/>
                <a:cs typeface="DejaVu Sans"/>
              </a:defRPr>
            </a:defPPr>
          </a:lstStyle>
          <a:p xmlns:a="http://schemas.openxmlformats.org/drawingml/2006/main">
            <a:pPr>
              <a:defRPr sz="1875" b="1">
                <a:solidFill>
                  <a:srgbClr val="293DFF"/>
                </a:solidFill>
                <a:latin typeface="DejaVu Sans"/>
                <a:ea typeface="DejaVu Sans"/>
                <a:cs typeface="DejaVu Sans"/>
              </a:defRPr>
            </a:pPr>
            <a:r>
              <a:rPr sz="1875" b="1">
                <a:solidFill>
                  <a:srgbClr val="293DFF"/>
                </a:solidFill>
                <a:latin typeface="DejaVu Sans"/>
                <a:ea typeface="DejaVu Sans"/>
                <a:cs typeface="DejaVu Sans"/>
              </a:rPr>
              <a:t>Merchant prepares a charge</a:t>
            </a:r>
          </a:p>
        </p:txBody>
      </p:sp>
      <p:pic>
        <p:nvPicPr>
          <p:cNvPr id="6" name="">
            <a:extLst xmlns:a="http://schemas.openxmlformats.org/drawingml/2006/main">
              <a:ext uri="{FF2B5EF4-FFF2-40B4-BE49-F238E27FC236}">
                <a16:creationId xmlns:a16="http://schemas.microsoft.com/office/drawing/2014/main" id="{98E63076-94DA-4619-AC8F-8C7D8186F7F1}"/>
              </a:ext>
            </a:extLst>
          </p:cNvPr>
          <p:cNvPicPr>
            <a:picLocks xmlns:a="http://schemas.openxmlformats.org/drawingml/2006/main" noChangeAspect="1"/>
          </p:cNvPicPr>
          <p:nvPr/>
        </p:nvPicPr>
        <p:blipFill>
          <a:blip xmlns:r="http://schemas.openxmlformats.org/officeDocument/2006/relationships" xmlns:a="http://schemas.openxmlformats.org/drawingml/2006/main" r:embed="R86dec874c23e4d8d"/>
          <a:stretch xmlns:a="http://schemas.openxmlformats.org/drawingml/2006/main"/>
        </p:blipFill>
        <p:spPr>
          <a:xfrm xmlns:a="http://schemas.openxmlformats.org/drawingml/2006/main">
            <a:off x="1289631" y="2752725"/>
            <a:ext cx="3878689" cy="30575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D54BF03-4C77-49FE-9806-BBEAC618D474}"/>
              </a:ext>
            </a:extLst>
          </p:cNvPr>
          <p:cNvPicPr>
            <a:picLocks xmlns:a="http://schemas.openxmlformats.org/drawingml/2006/main" noChangeAspect="1"/>
          </p:cNvPicPr>
          <p:nvPr/>
        </p:nvPicPr>
        <p:blipFill>
          <a:blip xmlns:r="http://schemas.openxmlformats.org/officeDocument/2006/relationships" xmlns:a="http://schemas.openxmlformats.org/drawingml/2006/main" r:embed="R12f5b5ca7e89498b"/>
          <a:stretch xmlns:a="http://schemas.openxmlformats.org/drawingml/2006/main"/>
        </p:blipFill>
        <p:spPr>
          <a:xfrm xmlns:a="http://schemas.openxmlformats.org/drawingml/2006/main">
            <a:off x="7004631" y="2752725"/>
            <a:ext cx="3878689" cy="3057525"/>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4DAA2C98-6635-4794-B44D-F00F22C245E3}"/>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Current UI, Oct 14. USDC on Devnet. Pix/card online sandbox. Fiat conversion/payout simulated.</a:t>
            </a:r>
          </a:p>
        </p:txBody>
      </p:sp>
      <p:pic xmlns:a="http://schemas.openxmlformats.org/drawingml/2006/main" xmlns:r="http://schemas.openxmlformats.org/officeDocument/2006/relationships">
        <p:nvPicPr>
          <p:cNvPr id="9" name="Picture 8" descr="app-icon.png"/>
          <p:cNvPicPr>
            <a:picLocks noChangeAspect="1"/>
          </p:cNvPicPr>
          <p:nvPr/>
        </p:nvPicPr>
        <p:blipFill>
          <a:blip r:embed="rId5"/>
          <a:stretch>
            <a:fillRect/>
          </a:stretch>
        </p:blipFill>
        <p:spPr>
          <a:xfrm>
            <a:off x="594360" y="246888"/>
            <a:ext cx="448056" cy="448056"/>
          </a:xfrm>
          <a:prstGeom prst="rect">
            <a:avLst/>
          </a:prstGeom>
        </p:spPr>
      </p:pic>
      <p:sp xmlns:a="http://schemas.openxmlformats.org/drawingml/2006/main">
        <p:nvSpPr>
          <p:cNvPr id="10" name="TextBox 9"/>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1" name="Rectangle 10"/>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38482483"/>
      </p:ext>
    </p:extLst>
  </p:cSld>
</p:sld>
</file>

<file path=ppt/slides/slide8.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43DDDA04-878F-4706-BEE1-0938589D8E3E}"/>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Offline acceptance and pending settlement</a:t>
            </a:r>
          </a:p>
        </p:txBody>
      </p:sp>
      <p:sp>
        <p:nvSpPr>
          <p:cNvPr id="3" name="text-2">
            <a:extLst xmlns:a="http://schemas.openxmlformats.org/drawingml/2006/main">
              <a:ext uri="{FF2B5EF4-FFF2-40B4-BE49-F238E27FC236}">
                <a16:creationId xmlns:a16="http://schemas.microsoft.com/office/drawing/2014/main" id="{2E0E33F5-1666-4648-AFAA-C77F2B388993}"/>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08</a:t>
            </a:r>
          </a:p>
        </p:txBody>
      </p:sp>
      <p:pic>
        <p:nvPicPr>
          <p:cNvPr id="4" name="">
            <a:extLst xmlns:a="http://schemas.openxmlformats.org/drawingml/2006/main">
              <a:ext uri="{FF2B5EF4-FFF2-40B4-BE49-F238E27FC236}">
                <a16:creationId xmlns:a16="http://schemas.microsoft.com/office/drawing/2014/main" id="{E508DC9C-EDFE-4DF7-A124-3A4D57656E74}"/>
              </a:ext>
            </a:extLst>
          </p:cNvPr>
          <p:cNvPicPr>
            <a:picLocks xmlns:a="http://schemas.openxmlformats.org/drawingml/2006/main" noChangeAspect="1"/>
          </p:cNvPicPr>
          <p:nvPr/>
        </p:nvPicPr>
        <p:blipFill>
          <a:blip xmlns:r="http://schemas.openxmlformats.org/officeDocument/2006/relationships" xmlns:a="http://schemas.openxmlformats.org/drawingml/2006/main" r:embed="R81f2a02d497047c2"/>
          <a:stretch xmlns:a="http://schemas.openxmlformats.org/drawingml/2006/main"/>
        </p:blipFill>
        <p:spPr>
          <a:xfrm xmlns:a="http://schemas.openxmlformats.org/drawingml/2006/main">
            <a:off x="912227" y="2343150"/>
            <a:ext cx="1795047" cy="3429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E862415-D3A5-4B48-A213-D81C670C6B62}"/>
              </a:ext>
            </a:extLst>
          </p:cNvPr>
          <p:cNvPicPr>
            <a:picLocks xmlns:a="http://schemas.openxmlformats.org/drawingml/2006/main" noChangeAspect="1"/>
          </p:cNvPicPr>
          <p:nvPr/>
        </p:nvPicPr>
        <p:blipFill>
          <a:blip xmlns:r="http://schemas.openxmlformats.org/officeDocument/2006/relationships" xmlns:a="http://schemas.openxmlformats.org/drawingml/2006/main" r:embed="Rf1c4881d7528449b"/>
          <a:stretch xmlns:a="http://schemas.openxmlformats.org/drawingml/2006/main"/>
        </p:blipFill>
        <p:spPr>
          <a:xfrm xmlns:a="http://schemas.openxmlformats.org/drawingml/2006/main">
            <a:off x="3478282" y="2400300"/>
            <a:ext cx="3520937" cy="3114675"/>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0973FF9B-E7AE-45FD-92C8-F54433A8C401}"/>
              </a:ext>
            </a:extLst>
          </p:cNvPr>
          <p:cNvSpPr>
            <a:spLocks xmlns:a="http://schemas.openxmlformats.org/drawingml/2006/main" noGrp="1"/>
          </p:cNvSpPr>
          <p:nvPr/>
        </p:nvSpPr>
        <p:spPr>
          <a:xfrm xmlns:a="http://schemas.openxmlformats.org/drawingml/2006/main">
            <a:off x="7477125" y="2476500"/>
            <a:ext cx="4095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293DFF"/>
                </a:solidFill>
                <a:latin typeface="DejaVu Sans"/>
                <a:ea typeface="DejaVu Sans"/>
                <a:cs typeface="DejaVu Sans"/>
              </a:defRPr>
            </a:defPPr>
          </a:lstStyle>
          <a:p xmlns:a="http://schemas.openxmlformats.org/drawingml/2006/main">
            <a:pPr>
              <a:defRPr sz="2250" b="1">
                <a:solidFill>
                  <a:srgbClr val="293DFF"/>
                </a:solidFill>
                <a:latin typeface="DejaVu Sans"/>
                <a:ea typeface="DejaVu Sans"/>
                <a:cs typeface="DejaVu Sans"/>
              </a:defRPr>
            </a:pPr>
            <a:r>
              <a:rPr sz="2250" b="1">
                <a:solidFill>
                  <a:srgbClr val="293DFF"/>
                </a:solidFill>
                <a:latin typeface="DejaVu Sans"/>
                <a:ea typeface="DejaVu Sans"/>
                <a:cs typeface="DejaVu Sans"/>
              </a:rPr>
              <a:t>Local verification</a:t>
            </a:r>
          </a:p>
          <a:p xmlns:a="http://schemas.openxmlformats.org/drawingml/2006/main">
            <a:pPr>
              <a:defRPr sz="2250" b="1">
                <a:solidFill>
                  <a:srgbClr val="293DFF"/>
                </a:solidFill>
                <a:latin typeface="DejaVu Sans"/>
                <a:ea typeface="DejaVu Sans"/>
                <a:cs typeface="DejaVu Sans"/>
              </a:defRPr>
            </a:pPr>
            <a:r>
              <a:rPr sz="2250" b="1">
                <a:solidFill>
                  <a:srgbClr val="293DFF"/>
                </a:solidFill>
                <a:latin typeface="DejaVu Sans"/>
                <a:ea typeface="DejaVu Sans"/>
                <a:cs typeface="DejaVu Sans"/>
              </a:rPr>
              <a:t>without network calls</a:t>
            </a:r>
          </a:p>
        </p:txBody>
      </p:sp>
      <p:sp>
        <p:nvSpPr>
          <p:cNvPr id="7" name="text-4">
            <a:extLst xmlns:a="http://schemas.openxmlformats.org/drawingml/2006/main">
              <a:ext uri="{FF2B5EF4-FFF2-40B4-BE49-F238E27FC236}">
                <a16:creationId xmlns:a16="http://schemas.microsoft.com/office/drawing/2014/main" id="{931DA899-9B61-4537-A893-9CDA1803942B}"/>
              </a:ext>
            </a:extLst>
          </p:cNvPr>
          <p:cNvSpPr>
            <a:spLocks xmlns:a="http://schemas.openxmlformats.org/drawingml/2006/main" noGrp="1"/>
          </p:cNvSpPr>
          <p:nvPr/>
        </p:nvSpPr>
        <p:spPr>
          <a:xfrm xmlns:a="http://schemas.openxmlformats.org/drawingml/2006/main">
            <a:off x="7477125" y="3590925"/>
            <a:ext cx="40957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01C40"/>
                </a:solidFill>
                <a:latin typeface="DejaVu Sans"/>
                <a:ea typeface="DejaVu Sans"/>
                <a:cs typeface="DejaVu Sans"/>
              </a:defRPr>
            </a:defPPr>
          </a:lstStyle>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The merchant verifies locally.</a:t>
            </a:r>
          </a:p>
          <a:p xmlns:a="http://schemas.openxmlformats.org/drawingml/2006/main">
            <a:r>
              <a:rPr>
                <a:latin typeface="DejaVu Sans"/>
              </a:rPr>
              <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Only the merchant reconnects</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in the recorded test.</a:t>
            </a:r>
          </a:p>
          <a:p xmlns:a="http://schemas.openxmlformats.org/drawingml/2006/main">
            <a:r>
              <a:rPr>
                <a:latin typeface="DejaVu Sans"/>
              </a:rPr>
              <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Acceptance and settlement</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have separate visible states.</a:t>
            </a:r>
          </a:p>
        </p:txBody>
      </p:sp>
      <p:sp>
        <p:nvSpPr>
          <p:cNvPr id="8" name="text-5">
            <a:extLst xmlns:a="http://schemas.openxmlformats.org/drawingml/2006/main">
              <a:ext uri="{FF2B5EF4-FFF2-40B4-BE49-F238E27FC236}">
                <a16:creationId xmlns:a16="http://schemas.microsoft.com/office/drawing/2014/main" id="{1690CB51-86B9-45A8-A170-D0A39DEDCF7C}"/>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Recorded developer test, Oct 12, earlier UI. Merchant risk remains until final settlement.</a:t>
            </a:r>
          </a:p>
        </p:txBody>
      </p:sp>
      <p:pic xmlns:a="http://schemas.openxmlformats.org/drawingml/2006/main" xmlns:r="http://schemas.openxmlformats.org/officeDocument/2006/relationships">
        <p:nvPicPr>
          <p:cNvPr id="9" name="Picture 8" descr="app-icon.png"/>
          <p:cNvPicPr>
            <a:picLocks noChangeAspect="1"/>
          </p:cNvPicPr>
          <p:nvPr/>
        </p:nvPicPr>
        <p:blipFill>
          <a:blip r:embed="rId5"/>
          <a:stretch>
            <a:fillRect/>
          </a:stretch>
        </p:blipFill>
        <p:spPr>
          <a:xfrm>
            <a:off x="594360" y="246888"/>
            <a:ext cx="448056" cy="448056"/>
          </a:xfrm>
          <a:prstGeom prst="rect">
            <a:avLst/>
          </a:prstGeom>
        </p:spPr>
      </p:pic>
      <p:sp xmlns:a="http://schemas.openxmlformats.org/drawingml/2006/main">
        <p:nvSpPr>
          <p:cNvPr id="10" name="TextBox 9"/>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1" name="Rectangle 10"/>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26330691"/>
      </p:ext>
    </p:extLst>
  </p:cSld>
</p:sld>
</file>

<file path=ppt/slides/slide9.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BF07FEC1-128B-408E-B568-12463A27E13D}"/>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Technical progress with verifiable evidence</a:t>
            </a:r>
          </a:p>
        </p:txBody>
      </p:sp>
      <p:sp>
        <p:nvSpPr>
          <p:cNvPr id="3" name="text-2">
            <a:extLst xmlns:a="http://schemas.openxmlformats.org/drawingml/2006/main">
              <a:ext uri="{FF2B5EF4-FFF2-40B4-BE49-F238E27FC236}">
                <a16:creationId xmlns:a16="http://schemas.microsoft.com/office/drawing/2014/main" id="{980B19C8-A981-4ABF-971E-8210FF31E723}"/>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09</a:t>
            </a:r>
          </a:p>
        </p:txBody>
      </p:sp>
      <p:sp>
        <p:nvSpPr>
          <p:cNvPr id="4" name="text-3">
            <a:extLst xmlns:a="http://schemas.openxmlformats.org/drawingml/2006/main">
              <a:ext uri="{FF2B5EF4-FFF2-40B4-BE49-F238E27FC236}">
                <a16:creationId xmlns:a16="http://schemas.microsoft.com/office/drawing/2014/main" id="{ED30AFB5-32A1-4890-8A29-25AD41834CC7}"/>
              </a:ext>
            </a:extLst>
          </p:cNvPr>
          <p:cNvSpPr>
            <a:spLocks xmlns:a="http://schemas.openxmlformats.org/drawingml/2006/main" noGrp="1"/>
          </p:cNvSpPr>
          <p:nvPr/>
        </p:nvSpPr>
        <p:spPr>
          <a:xfrm xmlns:a="http://schemas.openxmlformats.org/drawingml/2006/main">
            <a:off x="609600" y="2428875"/>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293DFF"/>
                </a:solidFill>
                <a:latin typeface="DejaVu Sans"/>
                <a:ea typeface="DejaVu Sans"/>
                <a:cs typeface="DejaVu Sans"/>
              </a:defRPr>
            </a:defPPr>
          </a:lstStyle>
          <a:p xmlns:a="http://schemas.openxmlformats.org/drawingml/2006/main">
            <a:pPr>
              <a:defRPr sz="3600" b="1">
                <a:solidFill>
                  <a:srgbClr val="293DFF"/>
                </a:solidFill>
                <a:latin typeface="DejaVu Sans"/>
                <a:ea typeface="DejaVu Sans"/>
                <a:cs typeface="DejaVu Sans"/>
              </a:defRPr>
            </a:pPr>
            <a:r>
              <a:rPr sz="3600" b="1">
                <a:solidFill>
                  <a:srgbClr val="293DFF"/>
                </a:solidFill>
                <a:latin typeface="DejaVu Sans"/>
                <a:ea typeface="DejaVu Sans"/>
                <a:cs typeface="DejaVu Sans"/>
              </a:rPr>
              <a:t>2 payments</a:t>
            </a:r>
          </a:p>
        </p:txBody>
      </p:sp>
      <p:sp>
        <p:nvSpPr>
          <p:cNvPr id="5" name="text-4">
            <a:extLst xmlns:a="http://schemas.openxmlformats.org/drawingml/2006/main">
              <a:ext uri="{FF2B5EF4-FFF2-40B4-BE49-F238E27FC236}">
                <a16:creationId xmlns:a16="http://schemas.microsoft.com/office/drawing/2014/main" id="{9F624BBA-CBD0-42B6-A231-4A170114767F}"/>
              </a:ext>
            </a:extLst>
          </p:cNvPr>
          <p:cNvSpPr>
            <a:spLocks xmlns:a="http://schemas.openxmlformats.org/drawingml/2006/main" noGrp="1"/>
          </p:cNvSpPr>
          <p:nvPr/>
        </p:nvSpPr>
        <p:spPr>
          <a:xfrm xmlns:a="http://schemas.openxmlformats.org/drawingml/2006/main">
            <a:off x="609600" y="3295650"/>
            <a:ext cx="467677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01C40"/>
                </a:solidFill>
                <a:latin typeface="DejaVu Sans"/>
                <a:ea typeface="DejaVu Sans"/>
                <a:cs typeface="DejaVu Sans"/>
              </a:defRPr>
            </a:defPPr>
          </a:lstStyle>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BRL 25 each</a:t>
            </a:r>
          </a:p>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1 online, 1 authorized offline</a:t>
            </a:r>
          </a:p>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4.545455 test USDC each</a:t>
            </a:r>
          </a:p>
        </p:txBody>
      </p:sp>
      <p:sp>
        <p:nvSpPr>
          <p:cNvPr id="6" name="text-5">
            <a:extLst xmlns:a="http://schemas.openxmlformats.org/drawingml/2006/main">
              <a:ext uri="{FF2B5EF4-FFF2-40B4-BE49-F238E27FC236}">
                <a16:creationId xmlns:a16="http://schemas.microsoft.com/office/drawing/2014/main" id="{8676FFD5-BD07-4024-BF4F-A7F7AB839C78}"/>
              </a:ext>
            </a:extLst>
          </p:cNvPr>
          <p:cNvSpPr>
            <a:spLocks xmlns:a="http://schemas.openxmlformats.org/drawingml/2006/main" noGrp="1"/>
          </p:cNvSpPr>
          <p:nvPr/>
        </p:nvSpPr>
        <p:spPr>
          <a:xfrm xmlns:a="http://schemas.openxmlformats.org/drawingml/2006/main">
            <a:off x="609600" y="4991100"/>
            <a:ext cx="46672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596989"/>
                </a:solidFill>
                <a:latin typeface="DejaVu Sans"/>
                <a:ea typeface="DejaVu Sans"/>
                <a:cs typeface="DejaVu Sans"/>
              </a:defRPr>
            </a:defPPr>
          </a:lstStyle>
          <a:p xmlns:a="http://schemas.openxmlformats.org/drawingml/2006/main">
            <a:pPr>
              <a:defRPr sz="1875" b="0">
                <a:solidFill>
                  <a:srgbClr val="596989"/>
                </a:solidFill>
                <a:latin typeface="DejaVu Sans"/>
                <a:ea typeface="DejaVu Sans"/>
                <a:cs typeface="DejaVu Sans"/>
              </a:defRPr>
            </a:pPr>
            <a:r>
              <a:rPr sz="1875" b="0">
                <a:solidFill>
                  <a:srgbClr val="596989"/>
                </a:solidFill>
                <a:latin typeface="DejaVu Sans"/>
                <a:ea typeface="DejaVu Sans"/>
                <a:cs typeface="DejaVu Sans"/>
              </a:rPr>
              <a:t>Developer tests.</a:t>
            </a:r>
          </a:p>
          <a:p xmlns:a="http://schemas.openxmlformats.org/drawingml/2006/main">
            <a:pPr>
              <a:defRPr sz="1875" b="0">
                <a:solidFill>
                  <a:srgbClr val="596989"/>
                </a:solidFill>
                <a:latin typeface="DejaVu Sans"/>
                <a:ea typeface="DejaVu Sans"/>
                <a:cs typeface="DejaVu Sans"/>
              </a:defRPr>
            </a:pPr>
            <a:r>
              <a:rPr sz="1875" b="0">
                <a:solidFill>
                  <a:srgbClr val="596989"/>
                </a:solidFill>
                <a:latin typeface="DejaVu Sans"/>
                <a:ea typeface="DejaVu Sans"/>
                <a:cs typeface="DejaVu Sans"/>
              </a:rPr>
              <a:t>No validated merchant pilot</a:t>
            </a:r>
          </a:p>
          <a:p xmlns:a="http://schemas.openxmlformats.org/drawingml/2006/main">
            <a:pPr>
              <a:defRPr sz="1875" b="0">
                <a:solidFill>
                  <a:srgbClr val="596989"/>
                </a:solidFill>
                <a:latin typeface="DejaVu Sans"/>
                <a:ea typeface="DejaVu Sans"/>
                <a:cs typeface="DejaVu Sans"/>
              </a:defRPr>
            </a:pPr>
            <a:r>
              <a:rPr sz="1875" b="0">
                <a:solidFill>
                  <a:srgbClr val="596989"/>
                </a:solidFill>
                <a:latin typeface="DejaVu Sans"/>
                <a:ea typeface="DejaVu Sans"/>
                <a:cs typeface="DejaVu Sans"/>
              </a:rPr>
              <a:t>or revenue yet.</a:t>
            </a:r>
          </a:p>
        </p:txBody>
      </p:sp>
      <p:pic>
        <p:nvPicPr>
          <p:cNvPr id="7" name="">
            <a:extLst xmlns:a="http://schemas.openxmlformats.org/drawingml/2006/main">
              <a:ext uri="{FF2B5EF4-FFF2-40B4-BE49-F238E27FC236}">
                <a16:creationId xmlns:a16="http://schemas.microsoft.com/office/drawing/2014/main" id="{330BCAC7-FC3A-467A-87B6-B491BBFBD14B}"/>
              </a:ext>
            </a:extLst>
          </p:cNvPr>
          <p:cNvPicPr>
            <a:picLocks xmlns:a="http://schemas.openxmlformats.org/drawingml/2006/main" noChangeAspect="1"/>
          </p:cNvPicPr>
          <p:nvPr/>
        </p:nvPicPr>
        <p:blipFill>
          <a:blip xmlns:r="http://schemas.openxmlformats.org/officeDocument/2006/relationships" xmlns:a="http://schemas.openxmlformats.org/drawingml/2006/main" r:embed="R83413a3e9e4e4078"/>
          <a:stretch xmlns:a="http://schemas.openxmlformats.org/drawingml/2006/main"/>
        </p:blipFill>
        <p:spPr>
          <a:xfrm xmlns:a="http://schemas.openxmlformats.org/drawingml/2006/main">
            <a:off x="5429657" y="2371725"/>
            <a:ext cx="1485086" cy="3476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9E7F383-C174-428D-B095-686415A9BFD3}"/>
              </a:ext>
            </a:extLst>
          </p:cNvPr>
          <p:cNvPicPr>
            <a:picLocks xmlns:a="http://schemas.openxmlformats.org/drawingml/2006/main" noChangeAspect="1"/>
          </p:cNvPicPr>
          <p:nvPr/>
        </p:nvPicPr>
        <p:blipFill>
          <a:blip xmlns:r="http://schemas.openxmlformats.org/officeDocument/2006/relationships" xmlns:a="http://schemas.openxmlformats.org/drawingml/2006/main" r:embed="Rdceb7bf38a994a33"/>
          <a:stretch xmlns:a="http://schemas.openxmlformats.org/drawingml/2006/main"/>
        </p:blipFill>
        <p:spPr>
          <a:xfrm xmlns:a="http://schemas.openxmlformats.org/drawingml/2006/main">
            <a:off x="7191375" y="2583395"/>
            <a:ext cx="4362450" cy="2996135"/>
          </a:xfrm>
          <a:prstGeom xmlns:a="http://schemas.openxmlformats.org/drawingml/2006/main" prst="rect">
            <a:avLst/>
          </a:prstGeom>
        </p:spPr>
      </p:pic>
      <p:pic xmlns:a="http://schemas.openxmlformats.org/drawingml/2006/main" xmlns:r="http://schemas.openxmlformats.org/officeDocument/2006/relationships">
        <p:nvPicPr>
          <p:cNvPr id="9" name="Picture 8" descr="app-icon.png"/>
          <p:cNvPicPr>
            <a:picLocks noChangeAspect="1"/>
          </p:cNvPicPr>
          <p:nvPr/>
        </p:nvPicPr>
        <p:blipFill>
          <a:blip r:embed="rId5"/>
          <a:stretch>
            <a:fillRect/>
          </a:stretch>
        </p:blipFill>
        <p:spPr>
          <a:xfrm>
            <a:off x="594360" y="246888"/>
            <a:ext cx="448056" cy="448056"/>
          </a:xfrm>
          <a:prstGeom prst="rect">
            <a:avLst/>
          </a:prstGeom>
        </p:spPr>
      </p:pic>
      <p:sp xmlns:a="http://schemas.openxmlformats.org/drawingml/2006/main">
        <p:nvSpPr>
          <p:cNvPr id="10" name="TextBox 9"/>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1" name="Rectangle 10"/>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12603540"/>
      </p:ext>
    </p:extLst>
  </p:cSld>
</p:sld>
</file>

<file path=ppt/slides/slide10.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CED7A5A4-2BDE-45A6-9CBB-0CD1BF61D69A}"/>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Alternatives and ShimoPay’s positioning</a:t>
            </a:r>
          </a:p>
        </p:txBody>
      </p:sp>
      <p:sp>
        <p:nvSpPr>
          <p:cNvPr id="3" name="text-2">
            <a:extLst xmlns:a="http://schemas.openxmlformats.org/drawingml/2006/main">
              <a:ext uri="{FF2B5EF4-FFF2-40B4-BE49-F238E27FC236}">
                <a16:creationId xmlns:a16="http://schemas.microsoft.com/office/drawing/2014/main" id="{ED012159-9298-442F-9204-970966FEB69B}"/>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10</a:t>
            </a:r>
          </a:p>
        </p:txBody>
      </p:sp>
      <p:graphicFrame>
        <p:nvGraphicFramePr>
          <p:cNvPr id="4" name="">
            <a:extLst xmlns:a="http://schemas.openxmlformats.org/drawingml/2006/main">
              <a:ext uri="{FF2B5EF4-FFF2-40B4-BE49-F238E27FC236}">
                <a16:creationId xmlns:a16="http://schemas.microsoft.com/office/drawing/2014/main" id="{F5E20217-C953-4BAE-99F7-5FF5BD25D212}"/>
              </a:ext>
            </a:extLst>
          </p:cNvPr>
          <p:cNvGraphicFramePr/>
          <p:nvPr/>
        </p:nvGraphicFramePr>
        <p:xfrm>
          <a:off xmlns:a="http://schemas.openxmlformats.org/drawingml/2006/main" x="609600" y="2362200"/>
          <a:ext xmlns:a="http://schemas.openxmlformats.org/drawingml/2006/main" cx="10972800" cy="2800350"/>
        </p:xfrm>
        <a:graphic xmlns:a="http://schemas.openxmlformats.org/drawingml/2006/main">
          <a:graphicData uri="http://schemas.openxmlformats.org/drawingml/2006/table">
            <a:tbl>
              <a:tblPr/>
              <a:tblGrid>
                <a:gridCol w="2305050"/>
                <a:gridCol w="3857625"/>
                <a:gridCol w="4810125"/>
              </a:tblGrid>
              <a:tr h="700088">
                <a:tc>
                  <a:txBody>
                    <a:bodyPr/>
                    <a:lstStyle/>
                    <a:p>
                      <a:r>
                        <a:rPr sz="1725" b="1">
                          <a:solidFill>
                            <a:srgbClr val="293DFF"/>
                          </a:solidFill>
                          <a:latin typeface="DejaVu Sans"/>
                          <a:ea typeface="DejaVu Sans"/>
                          <a:cs typeface="DejaVu Sans"/>
                        </a:rPr>
                        <a:t>Alternative</a:t>
                      </a:r>
                    </a:p>
                  </a:txBody>
                  <a:tcPr marL="91440" marR="91440" marT="45720" marB="45720">
                    <a:solidFill>
                      <a:srgbClr val="ECF1FF"/>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1">
                          <a:solidFill>
                            <a:srgbClr val="293DFF"/>
                          </a:solidFill>
                          <a:latin typeface="DejaVu Sans"/>
                          <a:ea typeface="DejaVu Sans"/>
                          <a:cs typeface="DejaVu Sans"/>
                        </a:rPr>
                        <a:t>What it offers</a:t>
                      </a:r>
                    </a:p>
                  </a:txBody>
                  <a:tcPr marL="91440" marR="91440" marT="45720" marB="45720">
                    <a:solidFill>
                      <a:srgbClr val="ECF1FF"/>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1">
                          <a:solidFill>
                            <a:srgbClr val="293DFF"/>
                          </a:solidFill>
                          <a:latin typeface="DejaVu Sans"/>
                          <a:ea typeface="DejaVu Sans"/>
                          <a:cs typeface="DejaVu Sans"/>
                        </a:rPr>
                        <a:t>ShimoPay’s proposed position</a:t>
                      </a:r>
                    </a:p>
                  </a:txBody>
                  <a:tcPr marL="91440" marR="91440" marT="45720" marB="45720">
                    <a:solidFill>
                      <a:srgbClr val="ECF1FF"/>
                    </a:solidFill>
                    <a:lnL w="6350">
                      <a:solidFill>
                        <a:srgbClr val="DCE4F2"/>
                      </a:solidFill>
                    </a:lnL>
                    <a:lnR w="6350">
                      <a:solidFill>
                        <a:srgbClr val="DCE4F2"/>
                      </a:solidFill>
                    </a:lnR>
                    <a:lnT w="6350">
                      <a:solidFill>
                        <a:srgbClr val="DCE4F2"/>
                      </a:solidFill>
                    </a:lnT>
                    <a:lnB w="6350">
                      <a:solidFill>
                        <a:srgbClr val="DCE4F2"/>
                      </a:solidFill>
                    </a:lnB>
                  </a:tcPr>
                </a:tc>
              </a:tr>
              <a:tr h="700088">
                <a:tc>
                  <a:txBody>
                    <a:bodyPr/>
                    <a:lstStyle/>
                    <a:p>
                      <a:r>
                        <a:rPr sz="1725" b="0">
                          <a:solidFill>
                            <a:srgbClr val="101C40"/>
                          </a:solidFill>
                          <a:latin typeface="DejaVu Sans"/>
                          <a:ea typeface="DejaVu Sans"/>
                          <a:cs typeface="DejaVu Sans"/>
                        </a:rPr>
                        <a:t>Cash</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Checkout without connectivity</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Digital record and later USDC settlement</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r>
              <a:tr h="700088">
                <a:tc>
                  <a:txBody>
                    <a:bodyPr/>
                    <a:lstStyle/>
                    <a:p>
                      <a:r>
                        <a:rPr sz="1725" b="0">
                          <a:solidFill>
                            <a:srgbClr val="101C40"/>
                          </a:solidFill>
                          <a:latin typeface="DejaVu Sans"/>
                          <a:ea typeface="DejaVu Sans"/>
                          <a:cs typeface="DejaVu Sans"/>
                        </a:rPr>
                        <a:t>Offline card systems</a:t>
                      </a:r>
                    </a:p>
                  </a:txBody>
                  <a:tcPr marL="91440" marR="91440" marT="45720" marB="45720">
                    <a:solidFill>
                      <a:srgbClr val="F4F6FC"/>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Deferred processing under provider rules</a:t>
                      </a:r>
                    </a:p>
                  </a:txBody>
                  <a:tcPr marL="91440" marR="91440" marT="45720" marB="45720">
                    <a:solidFill>
                      <a:srgbClr val="F4F6FC"/>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Phone-based intent with Solana escrow</a:t>
                      </a:r>
                    </a:p>
                  </a:txBody>
                  <a:tcPr marL="91440" marR="91440" marT="45720" marB="45720">
                    <a:solidFill>
                      <a:srgbClr val="F4F6FC"/>
                    </a:solidFill>
                    <a:lnL w="6350">
                      <a:solidFill>
                        <a:srgbClr val="DCE4F2"/>
                      </a:solidFill>
                    </a:lnL>
                    <a:lnR w="6350">
                      <a:solidFill>
                        <a:srgbClr val="DCE4F2"/>
                      </a:solidFill>
                    </a:lnR>
                    <a:lnT w="6350">
                      <a:solidFill>
                        <a:srgbClr val="DCE4F2"/>
                      </a:solidFill>
                    </a:lnT>
                    <a:lnB w="6350">
                      <a:solidFill>
                        <a:srgbClr val="DCE4F2"/>
                      </a:solidFill>
                    </a:lnB>
                  </a:tcPr>
                </a:tc>
              </a:tr>
              <a:tr h="700088">
                <a:tc>
                  <a:txBody>
                    <a:bodyPr/>
                    <a:lstStyle/>
                    <a:p>
                      <a:r>
                        <a:rPr sz="1725" b="0">
                          <a:solidFill>
                            <a:srgbClr val="101C40"/>
                          </a:solidFill>
                          <a:latin typeface="DejaVu Sans"/>
                          <a:ea typeface="DejaVu Sans"/>
                          <a:cs typeface="DejaVu Sans"/>
                        </a:rPr>
                        <a:t>Solana Pay</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Standard QR / URL payment requests</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Local intent verification, later settlement</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r>
            </a:tbl>
          </a:graphicData>
        </a:graphic>
      </p:graphicFrame>
      <p:sp>
        <p:nvSpPr>
          <p:cNvPr id="5" name="text-3">
            <a:extLst xmlns:a="http://schemas.openxmlformats.org/drawingml/2006/main">
              <a:ext uri="{FF2B5EF4-FFF2-40B4-BE49-F238E27FC236}">
                <a16:creationId xmlns:a16="http://schemas.microsoft.com/office/drawing/2014/main" id="{1F7ACB5D-0DA0-4774-BCAB-58C1B9950937}"/>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Offline payments already exist. Superiority, adoption cost and loss rates require benchmarking.</a:t>
            </a:r>
          </a:p>
        </p:txBody>
      </p:sp>
      <p:pic xmlns:a="http://schemas.openxmlformats.org/drawingml/2006/main" xmlns:r="http://schemas.openxmlformats.org/officeDocument/2006/relationships">
        <p:nvPicPr>
          <p:cNvPr id="6" name="Picture 5"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7" name="TextBox 6"/>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8" name="Rectangle 7"/>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87559236"/>
      </p:ext>
    </p:extLst>
  </p:cSld>
</p:sld>
</file>

<file path=ppt/slides/slide1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FF9A626F-E298-453F-9807-EE4F29E03FEF}"/>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How ShimoPay would make money</a:t>
            </a:r>
          </a:p>
        </p:txBody>
      </p:sp>
      <p:sp>
        <p:nvSpPr>
          <p:cNvPr id="3" name="text-2">
            <a:extLst xmlns:a="http://schemas.openxmlformats.org/drawingml/2006/main">
              <a:ext uri="{FF2B5EF4-FFF2-40B4-BE49-F238E27FC236}">
                <a16:creationId xmlns:a16="http://schemas.microsoft.com/office/drawing/2014/main" id="{DB8918B1-9744-447D-8BA1-C2019EBDE405}"/>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11</a:t>
            </a:r>
          </a:p>
        </p:txBody>
      </p:sp>
      <p:sp>
        <p:nvSpPr>
          <p:cNvPr id="4" name="text-3">
            <a:extLst xmlns:a="http://schemas.openxmlformats.org/drawingml/2006/main">
              <a:ext uri="{FF2B5EF4-FFF2-40B4-BE49-F238E27FC236}">
                <a16:creationId xmlns:a16="http://schemas.microsoft.com/office/drawing/2014/main" id="{B15B2576-7837-4BB0-9BA3-78BF7880A19B}"/>
              </a:ext>
            </a:extLst>
          </p:cNvPr>
          <p:cNvSpPr>
            <a:spLocks xmlns:a="http://schemas.openxmlformats.org/drawingml/2006/main" noGrp="1"/>
          </p:cNvSpPr>
          <p:nvPr/>
        </p:nvSpPr>
        <p:spPr>
          <a:xfrm xmlns:a="http://schemas.openxmlformats.org/drawingml/2006/main">
            <a:off x="609600" y="2400300"/>
            <a:ext cx="57721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1">
                <a:solidFill>
                  <a:srgbClr val="293DFF"/>
                </a:solidFill>
                <a:latin typeface="DejaVu Sans"/>
                <a:ea typeface="DejaVu Sans"/>
                <a:cs typeface="DejaVu Sans"/>
              </a:defRPr>
            </a:defPPr>
          </a:lstStyle>
          <a:p xmlns:a="http://schemas.openxmlformats.org/drawingml/2006/main">
            <a:pPr>
              <a:defRPr sz="4500" b="1">
                <a:solidFill>
                  <a:srgbClr val="293DFF"/>
                </a:solidFill>
                <a:latin typeface="DejaVu Sans"/>
                <a:ea typeface="DejaVu Sans"/>
                <a:cs typeface="DejaVu Sans"/>
              </a:defRPr>
            </a:pPr>
            <a:r>
              <a:rPr sz="4500" b="1">
                <a:solidFill>
                  <a:srgbClr val="293DFF"/>
                </a:solidFill>
                <a:latin typeface="DejaVu Sans"/>
                <a:ea typeface="DejaVu Sans"/>
                <a:cs typeface="DejaVu Sans"/>
              </a:rPr>
              <a:t>BRL 49–99</a:t>
            </a:r>
          </a:p>
        </p:txBody>
      </p:sp>
      <p:sp>
        <p:nvSpPr>
          <p:cNvPr id="5" name="text-4">
            <a:extLst xmlns:a="http://schemas.openxmlformats.org/drawingml/2006/main">
              <a:ext uri="{FF2B5EF4-FFF2-40B4-BE49-F238E27FC236}">
                <a16:creationId xmlns:a16="http://schemas.microsoft.com/office/drawing/2014/main" id="{B5BC7535-D19B-4E77-B3FD-F388ABDE50EB}"/>
              </a:ext>
            </a:extLst>
          </p:cNvPr>
          <p:cNvSpPr>
            <a:spLocks xmlns:a="http://schemas.openxmlformats.org/drawingml/2006/main" noGrp="1"/>
          </p:cNvSpPr>
          <p:nvPr/>
        </p:nvSpPr>
        <p:spPr>
          <a:xfrm xmlns:a="http://schemas.openxmlformats.org/drawingml/2006/main">
            <a:off x="609600" y="3448050"/>
            <a:ext cx="5772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01C40"/>
                </a:solidFill>
                <a:latin typeface="DejaVu Sans"/>
                <a:ea typeface="DejaVu Sans"/>
                <a:cs typeface="DejaVu Sans"/>
              </a:defRPr>
            </a:defPPr>
          </a:lstStyle>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per merchant location / month</a:t>
            </a:r>
          </a:p>
        </p:txBody>
      </p:sp>
      <p:sp>
        <p:nvSpPr>
          <p:cNvPr id="6" name="text-5">
            <a:extLst xmlns:a="http://schemas.openxmlformats.org/drawingml/2006/main">
              <a:ext uri="{FF2B5EF4-FFF2-40B4-BE49-F238E27FC236}">
                <a16:creationId xmlns:a16="http://schemas.microsoft.com/office/drawing/2014/main" id="{E6BFE913-E03F-44F1-A5FD-05628421EB96}"/>
              </a:ext>
            </a:extLst>
          </p:cNvPr>
          <p:cNvSpPr>
            <a:spLocks xmlns:a="http://schemas.openxmlformats.org/drawingml/2006/main" noGrp="1"/>
          </p:cNvSpPr>
          <p:nvPr/>
        </p:nvSpPr>
        <p:spPr>
          <a:xfrm xmlns:a="http://schemas.openxmlformats.org/drawingml/2006/main">
            <a:off x="609600" y="4448175"/>
            <a:ext cx="60674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01C40"/>
                </a:solidFill>
                <a:latin typeface="DejaVu Sans"/>
                <a:ea typeface="DejaVu Sans"/>
                <a:cs typeface="DejaVu Sans"/>
              </a:defRPr>
            </a:defPPr>
          </a:lstStyle>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Proposed subscription for checkout</a:t>
            </a:r>
          </a:p>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continuity and payment reconciliation.</a:t>
            </a:r>
          </a:p>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Consumer access without a subscription.</a:t>
            </a:r>
          </a:p>
        </p:txBody>
      </p:sp>
      <p:sp>
        <p:nvSpPr>
          <p:cNvPr id="7" name="text-6">
            <a:extLst xmlns:a="http://schemas.openxmlformats.org/drawingml/2006/main">
              <a:ext uri="{FF2B5EF4-FFF2-40B4-BE49-F238E27FC236}">
                <a16:creationId xmlns:a16="http://schemas.microsoft.com/office/drawing/2014/main" id="{00DB7CF6-3483-4720-BB20-37A25D6F177F}"/>
              </a:ext>
            </a:extLst>
          </p:cNvPr>
          <p:cNvSpPr>
            <a:spLocks xmlns:a="http://schemas.openxmlformats.org/drawingml/2006/main" noGrp="1"/>
          </p:cNvSpPr>
          <p:nvPr/>
        </p:nvSpPr>
        <p:spPr>
          <a:xfrm xmlns:a="http://schemas.openxmlformats.org/drawingml/2006/main">
            <a:off x="7410450" y="2428875"/>
            <a:ext cx="4067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293DFF"/>
                </a:solidFill>
                <a:latin typeface="DejaVu Sans"/>
                <a:ea typeface="DejaVu Sans"/>
                <a:cs typeface="DejaVu Sans"/>
              </a:defRPr>
            </a:defPPr>
          </a:lstStyle>
          <a:p xmlns:a="http://schemas.openxmlformats.org/drawingml/2006/main">
            <a:pPr>
              <a:defRPr sz="2250" b="1">
                <a:solidFill>
                  <a:srgbClr val="293DFF"/>
                </a:solidFill>
                <a:latin typeface="DejaVu Sans"/>
                <a:ea typeface="DejaVu Sans"/>
                <a:cs typeface="DejaVu Sans"/>
              </a:defRPr>
            </a:pPr>
            <a:r>
              <a:rPr sz="2250" b="1">
                <a:solidFill>
                  <a:srgbClr val="293DFF"/>
                </a:solidFill>
                <a:latin typeface="DejaVu Sans"/>
                <a:ea typeface="DejaVu Sans"/>
                <a:cs typeface="DejaVu Sans"/>
              </a:rPr>
              <a:t>Who pays</a:t>
            </a:r>
          </a:p>
        </p:txBody>
      </p:sp>
      <p:sp>
        <p:nvSpPr>
          <p:cNvPr id="8" name="text-7">
            <a:extLst xmlns:a="http://schemas.openxmlformats.org/drawingml/2006/main">
              <a:ext uri="{FF2B5EF4-FFF2-40B4-BE49-F238E27FC236}">
                <a16:creationId xmlns:a16="http://schemas.microsoft.com/office/drawing/2014/main" id="{31BE4B18-E7F8-4B72-83A5-76EC8783B2CB}"/>
              </a:ext>
            </a:extLst>
          </p:cNvPr>
          <p:cNvSpPr>
            <a:spLocks xmlns:a="http://schemas.openxmlformats.org/drawingml/2006/main" noGrp="1"/>
          </p:cNvSpPr>
          <p:nvPr/>
        </p:nvSpPr>
        <p:spPr>
          <a:xfrm xmlns:a="http://schemas.openxmlformats.org/drawingml/2006/main">
            <a:off x="7410450" y="3028950"/>
            <a:ext cx="40671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The merchant benefiting</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from payment continuity.</a:t>
            </a:r>
          </a:p>
        </p:txBody>
      </p:sp>
      <p:sp>
        <p:nvSpPr>
          <p:cNvPr id="9" name="text-8">
            <a:extLst xmlns:a="http://schemas.openxmlformats.org/drawingml/2006/main">
              <a:ext uri="{FF2B5EF4-FFF2-40B4-BE49-F238E27FC236}">
                <a16:creationId xmlns:a16="http://schemas.microsoft.com/office/drawing/2014/main" id="{761A2D52-5247-465A-B0F2-143841695902}"/>
              </a:ext>
            </a:extLst>
          </p:cNvPr>
          <p:cNvSpPr>
            <a:spLocks xmlns:a="http://schemas.openxmlformats.org/drawingml/2006/main" noGrp="1"/>
          </p:cNvSpPr>
          <p:nvPr/>
        </p:nvSpPr>
        <p:spPr>
          <a:xfrm xmlns:a="http://schemas.openxmlformats.org/drawingml/2006/main">
            <a:off x="7410450" y="4219575"/>
            <a:ext cx="4067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D75C27"/>
                </a:solidFill>
                <a:latin typeface="DejaVu Sans"/>
                <a:ea typeface="DejaVu Sans"/>
                <a:cs typeface="DejaVu Sans"/>
              </a:defRPr>
            </a:defPPr>
          </a:lstStyle>
          <a:p xmlns:a="http://schemas.openxmlformats.org/drawingml/2006/main">
            <a:pPr>
              <a:defRPr sz="2100" b="1">
                <a:solidFill>
                  <a:srgbClr val="D75C27"/>
                </a:solidFill>
                <a:latin typeface="DejaVu Sans"/>
                <a:ea typeface="DejaVu Sans"/>
                <a:cs typeface="DejaVu Sans"/>
              </a:defRPr>
            </a:pPr>
            <a:r>
              <a:rPr sz="2100" b="1">
                <a:solidFill>
                  <a:srgbClr val="D75C27"/>
                </a:solidFill>
                <a:latin typeface="DejaVu Sans"/>
                <a:ea typeface="DejaVu Sans"/>
                <a:cs typeface="DejaVu Sans"/>
              </a:rPr>
              <a:t>Later revenue options</a:t>
            </a:r>
          </a:p>
        </p:txBody>
      </p:sp>
      <p:sp>
        <p:nvSpPr>
          <p:cNvPr id="10" name="text-9">
            <a:extLst xmlns:a="http://schemas.openxmlformats.org/drawingml/2006/main">
              <a:ext uri="{FF2B5EF4-FFF2-40B4-BE49-F238E27FC236}">
                <a16:creationId xmlns:a16="http://schemas.microsoft.com/office/drawing/2014/main" id="{591EA383-F613-436E-AD8F-100E8A62526A}"/>
              </a:ext>
            </a:extLst>
          </p:cNvPr>
          <p:cNvSpPr>
            <a:spLocks xmlns:a="http://schemas.openxmlformats.org/drawingml/2006/main" noGrp="1"/>
          </p:cNvSpPr>
          <p:nvPr/>
        </p:nvSpPr>
        <p:spPr>
          <a:xfrm xmlns:a="http://schemas.openxmlformats.org/drawingml/2006/main">
            <a:off x="7410450" y="4791075"/>
            <a:ext cx="4067175"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01C40"/>
                </a:solidFill>
                <a:latin typeface="DejaVu Sans"/>
                <a:ea typeface="DejaVu Sans"/>
                <a:cs typeface="DejaVu Sans"/>
              </a:defRPr>
            </a:defPPr>
          </a:lstStyle>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Partner software licensing</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and service commissions,</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after adoption validation.</a:t>
            </a:r>
          </a:p>
        </p:txBody>
      </p:sp>
      <p:sp>
        <p:nvSpPr>
          <p:cNvPr id="11" name="text-10">
            <a:extLst xmlns:a="http://schemas.openxmlformats.org/drawingml/2006/main">
              <a:ext uri="{FF2B5EF4-FFF2-40B4-BE49-F238E27FC236}">
                <a16:creationId xmlns:a16="http://schemas.microsoft.com/office/drawing/2014/main" id="{65CFFC61-353B-47AA-864A-3437D8810262}"/>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All pricing and future revenue options are hypotheses. Network/provider fees need separate design.</a:t>
            </a:r>
          </a:p>
        </p:txBody>
      </p:sp>
      <p:pic xmlns:a="http://schemas.openxmlformats.org/drawingml/2006/main" xmlns:r="http://schemas.openxmlformats.org/officeDocument/2006/relationships">
        <p:nvPicPr>
          <p:cNvPr id="12" name="Picture 11"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3" name="TextBox 12"/>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4" name="Rectangle 13"/>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84048934"/>
      </p:ext>
    </p:extLst>
  </p:cSld>
</p:sld>
</file>

<file path=ppt/slides/slide1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714CC0BC-84C7-4109-A913-FC3D68851807}"/>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Subscription revenue scenarios</a:t>
            </a:r>
          </a:p>
        </p:txBody>
      </p:sp>
      <p:sp>
        <p:nvSpPr>
          <p:cNvPr id="3" name="text-2">
            <a:extLst xmlns:a="http://schemas.openxmlformats.org/drawingml/2006/main">
              <a:ext uri="{FF2B5EF4-FFF2-40B4-BE49-F238E27FC236}">
                <a16:creationId xmlns:a16="http://schemas.microsoft.com/office/drawing/2014/main" id="{C97201B4-B5A6-41F9-81B7-7D703BC1525D}"/>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12</a:t>
            </a:r>
          </a:p>
        </p:txBody>
      </p:sp>
      <p:graphicFrame>
        <p:nvGraphicFramePr>
          <p:cNvPr id="4" name="">
            <a:extLst xmlns:a="http://schemas.openxmlformats.org/drawingml/2006/main">
              <a:ext uri="{FF2B5EF4-FFF2-40B4-BE49-F238E27FC236}">
                <a16:creationId xmlns:a16="http://schemas.microsoft.com/office/drawing/2014/main" id="{88626E71-7795-4227-8AF5-08242C8AF825}"/>
              </a:ext>
            </a:extLst>
          </p:cNvPr>
          <p:cNvGraphicFramePr/>
          <p:nvPr/>
        </p:nvGraphicFramePr>
        <p:xfrm>
          <a:off xmlns:a="http://schemas.openxmlformats.org/drawingml/2006/main" x="609600" y="2352675"/>
          <a:ext xmlns:a="http://schemas.openxmlformats.org/drawingml/2006/main" cx="10972800" cy="2657475"/>
        </p:xfrm>
        <a:graphic xmlns:a="http://schemas.openxmlformats.org/drawingml/2006/main">
          <a:graphicData uri="http://schemas.openxmlformats.org/drawingml/2006/table">
            <a:tbl>
              <a:tblPr/>
              <a:tblGrid>
                <a:gridCol w="2857500"/>
                <a:gridCol w="3429000"/>
                <a:gridCol w="4686300"/>
              </a:tblGrid>
              <a:tr h="664369">
                <a:tc>
                  <a:txBody>
                    <a:bodyPr/>
                    <a:lstStyle/>
                    <a:p>
                      <a:r>
                        <a:rPr sz="1725" b="1">
                          <a:solidFill>
                            <a:srgbClr val="293DFF"/>
                          </a:solidFill>
                          <a:latin typeface="DejaVu Sans"/>
                          <a:ea typeface="DejaVu Sans"/>
                          <a:cs typeface="DejaVu Sans"/>
                        </a:rPr>
                        <a:t>Paying locations</a:t>
                      </a:r>
                    </a:p>
                  </a:txBody>
                  <a:tcPr marL="91440" marR="91440" marT="45720" marB="45720">
                    <a:solidFill>
                      <a:srgbClr val="ECF1FF"/>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1">
                          <a:solidFill>
                            <a:srgbClr val="293DFF"/>
                          </a:solidFill>
                          <a:latin typeface="DejaVu Sans"/>
                          <a:ea typeface="DejaVu Sans"/>
                          <a:cs typeface="DejaVu Sans"/>
                        </a:rPr>
                        <a:t>Monthly revenue</a:t>
                      </a:r>
                    </a:p>
                  </a:txBody>
                  <a:tcPr marL="91440" marR="91440" marT="45720" marB="45720">
                    <a:solidFill>
                      <a:srgbClr val="ECF1FF"/>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1">
                          <a:solidFill>
                            <a:srgbClr val="293DFF"/>
                          </a:solidFill>
                          <a:latin typeface="DejaVu Sans"/>
                          <a:ea typeface="DejaVu Sans"/>
                          <a:cs typeface="DejaVu Sans"/>
                        </a:rPr>
                        <a:t>Annual recurring run rate</a:t>
                      </a:r>
                    </a:p>
                  </a:txBody>
                  <a:tcPr marL="91440" marR="91440" marT="45720" marB="45720">
                    <a:solidFill>
                      <a:srgbClr val="ECF1FF"/>
                    </a:solidFill>
                    <a:lnL w="6350">
                      <a:solidFill>
                        <a:srgbClr val="DCE4F2"/>
                      </a:solidFill>
                    </a:lnL>
                    <a:lnR w="6350">
                      <a:solidFill>
                        <a:srgbClr val="DCE4F2"/>
                      </a:solidFill>
                    </a:lnR>
                    <a:lnT w="6350">
                      <a:solidFill>
                        <a:srgbClr val="DCE4F2"/>
                      </a:solidFill>
                    </a:lnT>
                    <a:lnB w="6350">
                      <a:solidFill>
                        <a:srgbClr val="DCE4F2"/>
                      </a:solidFill>
                    </a:lnB>
                  </a:tcPr>
                </a:tc>
              </a:tr>
              <a:tr h="664369">
                <a:tc>
                  <a:txBody>
                    <a:bodyPr/>
                    <a:lstStyle/>
                    <a:p>
                      <a:r>
                        <a:rPr sz="1725" b="0">
                          <a:solidFill>
                            <a:srgbClr val="101C40"/>
                          </a:solidFill>
                          <a:latin typeface="DejaVu Sans"/>
                          <a:ea typeface="DejaVu Sans"/>
                          <a:cs typeface="DejaVu Sans"/>
                        </a:rPr>
                        <a:t>100</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BRL 7,900</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BRL 94,800</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r>
              <a:tr h="664369">
                <a:tc>
                  <a:txBody>
                    <a:bodyPr/>
                    <a:lstStyle/>
                    <a:p>
                      <a:r>
                        <a:rPr sz="1725" b="0">
                          <a:solidFill>
                            <a:srgbClr val="101C40"/>
                          </a:solidFill>
                          <a:latin typeface="DejaVu Sans"/>
                          <a:ea typeface="DejaVu Sans"/>
                          <a:cs typeface="DejaVu Sans"/>
                        </a:rPr>
                        <a:t>1,000</a:t>
                      </a:r>
                    </a:p>
                  </a:txBody>
                  <a:tcPr marL="91440" marR="91440" marT="45720" marB="45720">
                    <a:solidFill>
                      <a:srgbClr val="F4F6FC"/>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BRL 79,000</a:t>
                      </a:r>
                    </a:p>
                  </a:txBody>
                  <a:tcPr marL="91440" marR="91440" marT="45720" marB="45720">
                    <a:solidFill>
                      <a:srgbClr val="F4F6FC"/>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BRL 948,000</a:t>
                      </a:r>
                    </a:p>
                  </a:txBody>
                  <a:tcPr marL="91440" marR="91440" marT="45720" marB="45720">
                    <a:solidFill>
                      <a:srgbClr val="F4F6FC"/>
                    </a:solidFill>
                    <a:lnL w="6350">
                      <a:solidFill>
                        <a:srgbClr val="DCE4F2"/>
                      </a:solidFill>
                    </a:lnL>
                    <a:lnR w="6350">
                      <a:solidFill>
                        <a:srgbClr val="DCE4F2"/>
                      </a:solidFill>
                    </a:lnR>
                    <a:lnT w="6350">
                      <a:solidFill>
                        <a:srgbClr val="DCE4F2"/>
                      </a:solidFill>
                    </a:lnT>
                    <a:lnB w="6350">
                      <a:solidFill>
                        <a:srgbClr val="DCE4F2"/>
                      </a:solidFill>
                    </a:lnB>
                  </a:tcPr>
                </a:tc>
              </a:tr>
              <a:tr h="664369">
                <a:tc>
                  <a:txBody>
                    <a:bodyPr/>
                    <a:lstStyle/>
                    <a:p>
                      <a:r>
                        <a:rPr sz="1725" b="0">
                          <a:solidFill>
                            <a:srgbClr val="101C40"/>
                          </a:solidFill>
                          <a:latin typeface="DejaVu Sans"/>
                          <a:ea typeface="DejaVu Sans"/>
                          <a:cs typeface="DejaVu Sans"/>
                        </a:rPr>
                        <a:t>10,000</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BRL 790,000</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c>
                  <a:txBody>
                    <a:bodyPr/>
                    <a:lstStyle/>
                    <a:p>
                      <a:r>
                        <a:rPr sz="1725" b="0">
                          <a:solidFill>
                            <a:srgbClr val="101C40"/>
                          </a:solidFill>
                          <a:latin typeface="DejaVu Sans"/>
                          <a:ea typeface="DejaVu Sans"/>
                          <a:cs typeface="DejaVu Sans"/>
                        </a:rPr>
                        <a:t>BRL 9,480,000</a:t>
                      </a:r>
                    </a:p>
                  </a:txBody>
                  <a:tcPr marL="91440" marR="91440" marT="45720" marB="45720">
                    <a:solidFill>
                      <a:srgbClr val="FFFDF9"/>
                    </a:solidFill>
                    <a:lnL w="6350">
                      <a:solidFill>
                        <a:srgbClr val="DCE4F2"/>
                      </a:solidFill>
                    </a:lnL>
                    <a:lnR w="6350">
                      <a:solidFill>
                        <a:srgbClr val="DCE4F2"/>
                      </a:solidFill>
                    </a:lnR>
                    <a:lnT w="6350">
                      <a:solidFill>
                        <a:srgbClr val="DCE4F2"/>
                      </a:solidFill>
                    </a:lnT>
                    <a:lnB w="6350">
                      <a:solidFill>
                        <a:srgbClr val="DCE4F2"/>
                      </a:solidFill>
                    </a:lnB>
                  </a:tcPr>
                </a:tc>
              </a:tr>
            </a:tbl>
          </a:graphicData>
        </a:graphic>
      </p:graphicFrame>
      <p:sp>
        <p:nvSpPr>
          <p:cNvPr id="5" name="text-3">
            <a:extLst xmlns:a="http://schemas.openxmlformats.org/drawingml/2006/main">
              <a:ext uri="{FF2B5EF4-FFF2-40B4-BE49-F238E27FC236}">
                <a16:creationId xmlns:a16="http://schemas.microsoft.com/office/drawing/2014/main" id="{4BC487C6-8A3C-4920-9EAA-8FAFF3FB6446}"/>
              </a:ext>
            </a:extLst>
          </p:cNvPr>
          <p:cNvSpPr>
            <a:spLocks xmlns:a="http://schemas.openxmlformats.org/drawingml/2006/main" noGrp="1"/>
          </p:cNvSpPr>
          <p:nvPr/>
        </p:nvSpPr>
        <p:spPr>
          <a:xfrm xmlns:a="http://schemas.openxmlformats.org/drawingml/2006/main">
            <a:off x="609600" y="5324475"/>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93DFF"/>
                </a:solidFill>
                <a:latin typeface="DejaVu Sans"/>
                <a:ea typeface="DejaVu Sans"/>
                <a:cs typeface="DejaVu Sans"/>
              </a:defRPr>
            </a:defPPr>
          </a:lstStyle>
          <a:p xmlns:a="http://schemas.openxmlformats.org/drawingml/2006/main">
            <a:pPr>
              <a:defRPr sz="2025" b="0">
                <a:solidFill>
                  <a:srgbClr val="293DFF"/>
                </a:solidFill>
                <a:latin typeface="DejaVu Sans"/>
                <a:ea typeface="DejaVu Sans"/>
                <a:cs typeface="DejaVu Sans"/>
              </a:defRPr>
            </a:pPr>
            <a:r>
              <a:rPr sz="2025" b="0">
                <a:solidFill>
                  <a:srgbClr val="293DFF"/>
                </a:solidFill>
                <a:latin typeface="DejaVu Sans"/>
                <a:ea typeface="DejaVu Sans"/>
                <a:cs typeface="DejaVu Sans"/>
              </a:rPr>
              <a:t>Profitability depends on support, security, provider fees</a:t>
            </a:r>
          </a:p>
          <a:p xmlns:a="http://schemas.openxmlformats.org/drawingml/2006/main">
            <a:pPr>
              <a:defRPr sz="2025" b="0">
                <a:solidFill>
                  <a:srgbClr val="293DFF"/>
                </a:solidFill>
                <a:latin typeface="DejaVu Sans"/>
                <a:ea typeface="DejaVu Sans"/>
                <a:cs typeface="DejaVu Sans"/>
              </a:defRPr>
            </a:pPr>
            <a:r>
              <a:rPr sz="2025" b="0">
                <a:solidFill>
                  <a:srgbClr val="293DFF"/>
                </a:solidFill>
                <a:latin typeface="DejaVu Sans"/>
                <a:ea typeface="DejaVu Sans"/>
                <a:cs typeface="DejaVu Sans"/>
              </a:rPr>
              <a:t>and who bears failed offline settlement losses.</a:t>
            </a:r>
          </a:p>
        </p:txBody>
      </p:sp>
      <p:sp>
        <p:nvSpPr>
          <p:cNvPr id="6" name="text-4">
            <a:extLst xmlns:a="http://schemas.openxmlformats.org/drawingml/2006/main">
              <a:ext uri="{FF2B5EF4-FFF2-40B4-BE49-F238E27FC236}">
                <a16:creationId xmlns:a16="http://schemas.microsoft.com/office/drawing/2014/main" id="{ACC7303C-50E6-4D1D-806B-2404BC42C366}"/>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Illustrative scenarios at BRL 79/month. These are not forecasts or achieved revenue.</a:t>
            </a:r>
          </a:p>
        </p:txBody>
      </p:sp>
      <p:pic xmlns:a="http://schemas.openxmlformats.org/drawingml/2006/main" xmlns:r="http://schemas.openxmlformats.org/officeDocument/2006/relationships">
        <p:nvPicPr>
          <p:cNvPr id="7" name="Picture 6"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8" name="TextBox 7"/>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9" name="Rectangle 8"/>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025499657"/>
      </p:ext>
    </p:extLst>
  </p:cSld>
</p:sld>
</file>

<file path=ppt/slides/slide1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30962F3D-DC93-4F00-BDEC-DEE6A8B23D32}"/>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Go-to-market starts with merchant discovery</a:t>
            </a:r>
          </a:p>
        </p:txBody>
      </p:sp>
      <p:sp>
        <p:nvSpPr>
          <p:cNvPr id="3" name="text-2">
            <a:extLst xmlns:a="http://schemas.openxmlformats.org/drawingml/2006/main">
              <a:ext uri="{FF2B5EF4-FFF2-40B4-BE49-F238E27FC236}">
                <a16:creationId xmlns:a16="http://schemas.microsoft.com/office/drawing/2014/main" id="{ABB9B336-C1EB-4813-B227-34FB0D99B211}"/>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13</a:t>
            </a:r>
          </a:p>
        </p:txBody>
      </p:sp>
      <p:sp>
        <p:nvSpPr>
          <p:cNvPr id="4" name="text-3">
            <a:extLst xmlns:a="http://schemas.openxmlformats.org/drawingml/2006/main">
              <a:ext uri="{FF2B5EF4-FFF2-40B4-BE49-F238E27FC236}">
                <a16:creationId xmlns:a16="http://schemas.microsoft.com/office/drawing/2014/main" id="{62596A0B-BB6F-411A-89FC-EB50564BCB5C}"/>
              </a:ext>
            </a:extLst>
          </p:cNvPr>
          <p:cNvSpPr>
            <a:spLocks xmlns:a="http://schemas.openxmlformats.org/drawingml/2006/main" noGrp="1"/>
          </p:cNvSpPr>
          <p:nvPr/>
        </p:nvSpPr>
        <p:spPr>
          <a:xfrm xmlns:a="http://schemas.openxmlformats.org/drawingml/2006/main">
            <a:off x="609600" y="24384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Discovery</a:t>
            </a:r>
          </a:p>
        </p:txBody>
      </p:sp>
      <p:sp>
        <p:nvSpPr>
          <p:cNvPr id="5" name="text-4">
            <a:extLst xmlns:a="http://schemas.openxmlformats.org/drawingml/2006/main">
              <a:ext uri="{FF2B5EF4-FFF2-40B4-BE49-F238E27FC236}">
                <a16:creationId xmlns:a16="http://schemas.microsoft.com/office/drawing/2014/main" id="{5A819E57-F4F7-4A1D-99A7-7843A8787AF9}"/>
              </a:ext>
            </a:extLst>
          </p:cNvPr>
          <p:cNvSpPr>
            <a:spLocks xmlns:a="http://schemas.openxmlformats.org/drawingml/2006/main" noGrp="1"/>
          </p:cNvSpPr>
          <p:nvPr/>
        </p:nvSpPr>
        <p:spPr>
          <a:xfrm xmlns:a="http://schemas.openxmlformats.org/drawingml/2006/main">
            <a:off x="3714750" y="243840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Interview 8–12 São Paulo establishments.</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Record outage frequency, lost sales and current workarounds.</a:t>
            </a:r>
          </a:p>
        </p:txBody>
      </p:sp>
      <p:sp>
        <p:nvSpPr>
          <p:cNvPr id="6" name="text-5">
            <a:extLst xmlns:a="http://schemas.openxmlformats.org/drawingml/2006/main">
              <a:ext uri="{FF2B5EF4-FFF2-40B4-BE49-F238E27FC236}">
                <a16:creationId xmlns:a16="http://schemas.microsoft.com/office/drawing/2014/main" id="{1138C204-152A-4B78-8EAD-19D2AF7003FA}"/>
              </a:ext>
            </a:extLst>
          </p:cNvPr>
          <p:cNvSpPr>
            <a:spLocks xmlns:a="http://schemas.openxmlformats.org/drawingml/2006/main" noGrp="1"/>
          </p:cNvSpPr>
          <p:nvPr/>
        </p:nvSpPr>
        <p:spPr>
          <a:xfrm xmlns:a="http://schemas.openxmlformats.org/drawingml/2006/main">
            <a:off x="609600" y="35814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Design partners</a:t>
            </a:r>
          </a:p>
        </p:txBody>
      </p:sp>
      <p:sp>
        <p:nvSpPr>
          <p:cNvPr id="7" name="text-6">
            <a:extLst xmlns:a="http://schemas.openxmlformats.org/drawingml/2006/main">
              <a:ext uri="{FF2B5EF4-FFF2-40B4-BE49-F238E27FC236}">
                <a16:creationId xmlns:a16="http://schemas.microsoft.com/office/drawing/2014/main" id="{A313D564-5CCD-4C87-A6B8-8D9AFCFAFC9D}"/>
              </a:ext>
            </a:extLst>
          </p:cNvPr>
          <p:cNvSpPr>
            <a:spLocks xmlns:a="http://schemas.openxmlformats.org/drawingml/2006/main" noGrp="1"/>
          </p:cNvSpPr>
          <p:nvPr/>
        </p:nvSpPr>
        <p:spPr>
          <a:xfrm xmlns:a="http://schemas.openxmlformats.org/drawingml/2006/main">
            <a:off x="3714750" y="358140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Seek 2 merchants to test the workflow with test tokens.</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Measure repeat use and willingness to pay.</a:t>
            </a:r>
          </a:p>
        </p:txBody>
      </p:sp>
      <p:sp>
        <p:nvSpPr>
          <p:cNvPr id="8" name="text-7">
            <a:extLst xmlns:a="http://schemas.openxmlformats.org/drawingml/2006/main">
              <a:ext uri="{FF2B5EF4-FFF2-40B4-BE49-F238E27FC236}">
                <a16:creationId xmlns:a16="http://schemas.microsoft.com/office/drawing/2014/main" id="{FFC83F04-ED18-467B-8350-65CBC687B3C2}"/>
              </a:ext>
            </a:extLst>
          </p:cNvPr>
          <p:cNvSpPr>
            <a:spLocks xmlns:a="http://schemas.openxmlformats.org/drawingml/2006/main" noGrp="1"/>
          </p:cNvSpPr>
          <p:nvPr/>
        </p:nvSpPr>
        <p:spPr>
          <a:xfrm xmlns:a="http://schemas.openxmlformats.org/drawingml/2006/main">
            <a:off x="609600" y="47244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Distribution</a:t>
            </a:r>
          </a:p>
        </p:txBody>
      </p:sp>
      <p:sp>
        <p:nvSpPr>
          <p:cNvPr id="9" name="text-8">
            <a:extLst xmlns:a="http://schemas.openxmlformats.org/drawingml/2006/main">
              <a:ext uri="{FF2B5EF4-FFF2-40B4-BE49-F238E27FC236}">
                <a16:creationId xmlns:a16="http://schemas.microsoft.com/office/drawing/2014/main" id="{A35011F9-1A11-4E6B-BD92-81BAD3694F19}"/>
              </a:ext>
            </a:extLst>
          </p:cNvPr>
          <p:cNvSpPr>
            <a:spLocks xmlns:a="http://schemas.openxmlformats.org/drawingml/2006/main" noGrp="1"/>
          </p:cNvSpPr>
          <p:nvPr/>
        </p:nvSpPr>
        <p:spPr>
          <a:xfrm xmlns:a="http://schemas.openxmlformats.org/drawingml/2006/main">
            <a:off x="3714750" y="472440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Start with direct onboarding. Test merchant software</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partnerships after the pilot economics work.</a:t>
            </a:r>
          </a:p>
        </p:txBody>
      </p:sp>
      <p:sp>
        <p:nvSpPr>
          <p:cNvPr id="10" name="text-9">
            <a:extLst xmlns:a="http://schemas.openxmlformats.org/drawingml/2006/main">
              <a:ext uri="{FF2B5EF4-FFF2-40B4-BE49-F238E27FC236}">
                <a16:creationId xmlns:a16="http://schemas.microsoft.com/office/drawing/2014/main" id="{9CEE781E-499D-4466-93EF-489157DE26D3}"/>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Success criteria: repeat usage, reliable settlement and value above fees and acceptance losses.</a:t>
            </a:r>
          </a:p>
        </p:txBody>
      </p:sp>
      <p:pic xmlns:a="http://schemas.openxmlformats.org/drawingml/2006/main" xmlns:r="http://schemas.openxmlformats.org/officeDocument/2006/relationships">
        <p:nvPicPr>
          <p:cNvPr id="11" name="Picture 10"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2" name="TextBox 11"/>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3" name="Rectangle 12"/>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46246758"/>
      </p:ext>
    </p:extLst>
  </p:cSld>
</p:sld>
</file>

<file path=ppt/slides/slide1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91196780-2F5C-43FB-8CA8-E649C2958EF0}"/>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A wallet with a path to everyday services</a:t>
            </a:r>
          </a:p>
        </p:txBody>
      </p:sp>
      <p:sp>
        <p:nvSpPr>
          <p:cNvPr id="3" name="text-2">
            <a:extLst xmlns:a="http://schemas.openxmlformats.org/drawingml/2006/main">
              <a:ext uri="{FF2B5EF4-FFF2-40B4-BE49-F238E27FC236}">
                <a16:creationId xmlns:a16="http://schemas.microsoft.com/office/drawing/2014/main" id="{98333466-9CE9-41A1-A591-7A7801099639}"/>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14</a:t>
            </a:r>
          </a:p>
        </p:txBody>
      </p:sp>
      <p:pic>
        <p:nvPicPr>
          <p:cNvPr id="4" name="">
            <a:extLst xmlns:a="http://schemas.openxmlformats.org/drawingml/2006/main">
              <a:ext uri="{FF2B5EF4-FFF2-40B4-BE49-F238E27FC236}">
                <a16:creationId xmlns:a16="http://schemas.microsoft.com/office/drawing/2014/main" id="{CDD9B3C9-45B9-4977-A3BF-BF868E2F7D74}"/>
              </a:ext>
            </a:extLst>
          </p:cNvPr>
          <p:cNvPicPr>
            <a:picLocks xmlns:a="http://schemas.openxmlformats.org/drawingml/2006/main" noChangeAspect="1"/>
          </p:cNvPicPr>
          <p:nvPr/>
        </p:nvPicPr>
        <p:blipFill>
          <a:blip xmlns:r="http://schemas.openxmlformats.org/officeDocument/2006/relationships" xmlns:a="http://schemas.openxmlformats.org/drawingml/2006/main" r:embed="R26d0be7fad2a4178"/>
          <a:stretch xmlns:a="http://schemas.openxmlformats.org/drawingml/2006/main"/>
        </p:blipFill>
        <p:spPr>
          <a:xfrm xmlns:a="http://schemas.openxmlformats.org/drawingml/2006/main">
            <a:off x="1598129" y="2419350"/>
            <a:ext cx="4290391" cy="33337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EB9564C9-067A-4221-842F-E27044FC0FD3}"/>
              </a:ext>
            </a:extLst>
          </p:cNvPr>
          <p:cNvSpPr>
            <a:spLocks xmlns:a="http://schemas.openxmlformats.org/drawingml/2006/main" noGrp="1"/>
          </p:cNvSpPr>
          <p:nvPr/>
        </p:nvSpPr>
        <p:spPr>
          <a:xfrm xmlns:a="http://schemas.openxmlformats.org/drawingml/2006/main">
            <a:off x="7477125" y="2419350"/>
            <a:ext cx="4095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293DFF"/>
                </a:solidFill>
                <a:latin typeface="DejaVu Sans"/>
                <a:ea typeface="DejaVu Sans"/>
                <a:cs typeface="DejaVu Sans"/>
              </a:defRPr>
            </a:defPPr>
          </a:lstStyle>
          <a:p xmlns:a="http://schemas.openxmlformats.org/drawingml/2006/main">
            <a:pPr>
              <a:defRPr sz="2325" b="1">
                <a:solidFill>
                  <a:srgbClr val="293DFF"/>
                </a:solidFill>
                <a:latin typeface="DejaVu Sans"/>
                <a:ea typeface="DejaVu Sans"/>
                <a:cs typeface="DejaVu Sans"/>
              </a:defRPr>
            </a:pPr>
            <a:r>
              <a:rPr sz="2325" b="1">
                <a:solidFill>
                  <a:srgbClr val="293DFF"/>
                </a:solidFill>
                <a:latin typeface="DejaVu Sans"/>
                <a:ea typeface="DejaVu Sans"/>
                <a:cs typeface="DejaVu Sans"/>
              </a:rPr>
              <a:t>Today</a:t>
            </a:r>
          </a:p>
        </p:txBody>
      </p:sp>
      <p:sp>
        <p:nvSpPr>
          <p:cNvPr id="6" name="text-4">
            <a:extLst xmlns:a="http://schemas.openxmlformats.org/drawingml/2006/main">
              <a:ext uri="{FF2B5EF4-FFF2-40B4-BE49-F238E27FC236}">
                <a16:creationId xmlns:a16="http://schemas.microsoft.com/office/drawing/2014/main" id="{CEC3D359-C8CD-43CB-B7ED-750FEADD0324}"/>
              </a:ext>
            </a:extLst>
          </p:cNvPr>
          <p:cNvSpPr>
            <a:spLocks xmlns:a="http://schemas.openxmlformats.org/drawingml/2006/main" noGrp="1"/>
          </p:cNvSpPr>
          <p:nvPr/>
        </p:nvSpPr>
        <p:spPr>
          <a:xfrm xmlns:a="http://schemas.openxmlformats.org/drawingml/2006/main">
            <a:off x="7477125" y="3019425"/>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01C40"/>
                </a:solidFill>
                <a:latin typeface="DejaVu Sans"/>
                <a:ea typeface="DejaVu Sans"/>
                <a:cs typeface="DejaVu Sans"/>
              </a:defRPr>
            </a:defPPr>
          </a:lstStyle>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Payment tools share one</a:t>
            </a:r>
          </a:p>
          <a:p xmlns:a="http://schemas.openxmlformats.org/drawingml/2006/main">
            <a:pPr>
              <a:defRPr sz="2100" b="0">
                <a:solidFill>
                  <a:srgbClr val="101C40"/>
                </a:solidFill>
                <a:latin typeface="DejaVu Sans"/>
                <a:ea typeface="DejaVu Sans"/>
                <a:cs typeface="DejaVu Sans"/>
              </a:defRPr>
            </a:pPr>
            <a:r>
              <a:rPr sz="2100" b="0">
                <a:solidFill>
                  <a:srgbClr val="101C40"/>
                </a:solidFill>
                <a:latin typeface="DejaVu Sans"/>
                <a:ea typeface="DejaVu Sans"/>
                <a:cs typeface="DejaVu Sans"/>
              </a:rPr>
              <a:t>consumer experience.</a:t>
            </a:r>
          </a:p>
        </p:txBody>
      </p:sp>
      <p:sp>
        <p:nvSpPr>
          <p:cNvPr id="7" name="text-5">
            <a:extLst xmlns:a="http://schemas.openxmlformats.org/drawingml/2006/main">
              <a:ext uri="{FF2B5EF4-FFF2-40B4-BE49-F238E27FC236}">
                <a16:creationId xmlns:a16="http://schemas.microsoft.com/office/drawing/2014/main" id="{B9821390-0E96-4E3C-B3CC-74423B13451D}"/>
              </a:ext>
            </a:extLst>
          </p:cNvPr>
          <p:cNvSpPr>
            <a:spLocks xmlns:a="http://schemas.openxmlformats.org/drawingml/2006/main" noGrp="1"/>
          </p:cNvSpPr>
          <p:nvPr/>
        </p:nvSpPr>
        <p:spPr>
          <a:xfrm xmlns:a="http://schemas.openxmlformats.org/drawingml/2006/main">
            <a:off x="7477125" y="4286250"/>
            <a:ext cx="4095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D75C27"/>
                </a:solidFill>
                <a:latin typeface="DejaVu Sans"/>
                <a:ea typeface="DejaVu Sans"/>
                <a:cs typeface="DejaVu Sans"/>
              </a:defRPr>
            </a:defPPr>
          </a:lstStyle>
          <a:p xmlns:a="http://schemas.openxmlformats.org/drawingml/2006/main">
            <a:pPr>
              <a:defRPr sz="2175" b="1">
                <a:solidFill>
                  <a:srgbClr val="D75C27"/>
                </a:solidFill>
                <a:latin typeface="DejaVu Sans"/>
                <a:ea typeface="DejaVu Sans"/>
                <a:cs typeface="DejaVu Sans"/>
              </a:defRPr>
            </a:pPr>
            <a:r>
              <a:rPr sz="2175" b="1">
                <a:solidFill>
                  <a:srgbClr val="D75C27"/>
                </a:solidFill>
                <a:latin typeface="DejaVu Sans"/>
                <a:ea typeface="DejaVu Sans"/>
                <a:cs typeface="DejaVu Sans"/>
              </a:rPr>
              <a:t>After merchant adoption</a:t>
            </a:r>
          </a:p>
        </p:txBody>
      </p:sp>
      <p:sp>
        <p:nvSpPr>
          <p:cNvPr id="8" name="text-6">
            <a:extLst xmlns:a="http://schemas.openxmlformats.org/drawingml/2006/main">
              <a:ext uri="{FF2B5EF4-FFF2-40B4-BE49-F238E27FC236}">
                <a16:creationId xmlns:a16="http://schemas.microsoft.com/office/drawing/2014/main" id="{6AD5A583-0663-4265-BAB9-6916F7C881EE}"/>
              </a:ext>
            </a:extLst>
          </p:cNvPr>
          <p:cNvSpPr>
            <a:spLocks xmlns:a="http://schemas.openxmlformats.org/drawingml/2006/main" noGrp="1"/>
          </p:cNvSpPr>
          <p:nvPr/>
        </p:nvSpPr>
        <p:spPr>
          <a:xfrm xmlns:a="http://schemas.openxmlformats.org/drawingml/2006/main">
            <a:off x="7477125" y="4876800"/>
            <a:ext cx="4095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01C40"/>
                </a:solidFill>
                <a:latin typeface="DejaVu Sans"/>
                <a:ea typeface="DejaVu Sans"/>
                <a:cs typeface="DejaVu Sans"/>
              </a:defRPr>
            </a:defPPr>
          </a:lstStyle>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Add services and partner</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integrations that increase</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useful wallet activity.</a:t>
            </a:r>
          </a:p>
        </p:txBody>
      </p:sp>
      <p:sp>
        <p:nvSpPr>
          <p:cNvPr id="9" name="text-7">
            <a:extLst xmlns:a="http://schemas.openxmlformats.org/drawingml/2006/main">
              <a:ext uri="{FF2B5EF4-FFF2-40B4-BE49-F238E27FC236}">
                <a16:creationId xmlns:a16="http://schemas.microsoft.com/office/drawing/2014/main" id="{E9F54131-C087-4C28-A197-95799CD610D0}"/>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Current tools shown. Partner marketplace and commission revenue remain future hypotheses.</a:t>
            </a:r>
          </a:p>
        </p:txBody>
      </p:sp>
      <p:pic xmlns:a="http://schemas.openxmlformats.org/drawingml/2006/main" xmlns:r="http://schemas.openxmlformats.org/officeDocument/2006/relationships">
        <p:nvPicPr>
          <p:cNvPr id="10" name="Picture 9" descr="app-icon.png"/>
          <p:cNvPicPr>
            <a:picLocks noChangeAspect="1"/>
          </p:cNvPicPr>
          <p:nvPr/>
        </p:nvPicPr>
        <p:blipFill>
          <a:blip r:embed="rId4"/>
          <a:stretch>
            <a:fillRect/>
          </a:stretch>
        </p:blipFill>
        <p:spPr>
          <a:xfrm>
            <a:off x="594360" y="246888"/>
            <a:ext cx="448056" cy="448056"/>
          </a:xfrm>
          <a:prstGeom prst="rect">
            <a:avLst/>
          </a:prstGeom>
        </p:spPr>
      </p:pic>
      <p:sp xmlns:a="http://schemas.openxmlformats.org/drawingml/2006/main">
        <p:nvSpPr>
          <p:cNvPr id="11" name="TextBox 10"/>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2" name="Rectangle 11"/>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81526117"/>
      </p:ext>
    </p:extLst>
  </p:cSld>
</p:sld>
</file>

<file path=ppt/slides/slide1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FDD47AFC-6109-4CA4-98CF-53F1F54283F4}"/>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The path to a controlled commercial pilot</a:t>
            </a:r>
          </a:p>
        </p:txBody>
      </p:sp>
      <p:sp>
        <p:nvSpPr>
          <p:cNvPr id="3" name="text-2">
            <a:extLst xmlns:a="http://schemas.openxmlformats.org/drawingml/2006/main">
              <a:ext uri="{FF2B5EF4-FFF2-40B4-BE49-F238E27FC236}">
                <a16:creationId xmlns:a16="http://schemas.microsoft.com/office/drawing/2014/main" id="{276DA494-EA96-4EBB-9BF4-7B26C4955C4E}"/>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15</a:t>
            </a:r>
          </a:p>
        </p:txBody>
      </p:sp>
      <p:sp>
        <p:nvSpPr>
          <p:cNvPr id="4" name="text-3">
            <a:extLst xmlns:a="http://schemas.openxmlformats.org/drawingml/2006/main">
              <a:ext uri="{FF2B5EF4-FFF2-40B4-BE49-F238E27FC236}">
                <a16:creationId xmlns:a16="http://schemas.microsoft.com/office/drawing/2014/main" id="{83E8370C-0632-4473-A216-C94F54E5B621}"/>
              </a:ext>
            </a:extLst>
          </p:cNvPr>
          <p:cNvSpPr>
            <a:spLocks xmlns:a="http://schemas.openxmlformats.org/drawingml/2006/main" noGrp="1"/>
          </p:cNvSpPr>
          <p:nvPr/>
        </p:nvSpPr>
        <p:spPr>
          <a:xfrm xmlns:a="http://schemas.openxmlformats.org/drawingml/2006/main">
            <a:off x="609600" y="24384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Wallet security</a:t>
            </a:r>
          </a:p>
        </p:txBody>
      </p:sp>
      <p:sp>
        <p:nvSpPr>
          <p:cNvPr id="5" name="text-4">
            <a:extLst xmlns:a="http://schemas.openxmlformats.org/drawingml/2006/main">
              <a:ext uri="{FF2B5EF4-FFF2-40B4-BE49-F238E27FC236}">
                <a16:creationId xmlns:a16="http://schemas.microsoft.com/office/drawing/2014/main" id="{ACCECC7E-8C89-4F3B-874C-B4C45D471E12}"/>
              </a:ext>
            </a:extLst>
          </p:cNvPr>
          <p:cNvSpPr>
            <a:spLocks xmlns:a="http://schemas.openxmlformats.org/drawingml/2006/main" noGrp="1"/>
          </p:cNvSpPr>
          <p:nvPr/>
        </p:nvSpPr>
        <p:spPr>
          <a:xfrm xmlns:a="http://schemas.openxmlformats.org/drawingml/2006/main">
            <a:off x="3714750" y="243840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Individual ownership and transaction authentication.</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Protected device keys and tested recovery.</a:t>
            </a:r>
          </a:p>
        </p:txBody>
      </p:sp>
      <p:sp>
        <p:nvSpPr>
          <p:cNvPr id="6" name="text-5">
            <a:extLst xmlns:a="http://schemas.openxmlformats.org/drawingml/2006/main">
              <a:ext uri="{FF2B5EF4-FFF2-40B4-BE49-F238E27FC236}">
                <a16:creationId xmlns:a16="http://schemas.microsoft.com/office/drawing/2014/main" id="{B852FBC8-8833-4052-8E83-190B3CD1680F}"/>
              </a:ext>
            </a:extLst>
          </p:cNvPr>
          <p:cNvSpPr>
            <a:spLocks xmlns:a="http://schemas.openxmlformats.org/drawingml/2006/main" noGrp="1"/>
          </p:cNvSpPr>
          <p:nvPr/>
        </p:nvSpPr>
        <p:spPr>
          <a:xfrm xmlns:a="http://schemas.openxmlformats.org/drawingml/2006/main">
            <a:off x="609600" y="357187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Acceptance policy</a:t>
            </a:r>
          </a:p>
        </p:txBody>
      </p:sp>
      <p:sp>
        <p:nvSpPr>
          <p:cNvPr id="7" name="text-6">
            <a:extLst xmlns:a="http://schemas.openxmlformats.org/drawingml/2006/main">
              <a:ext uri="{FF2B5EF4-FFF2-40B4-BE49-F238E27FC236}">
                <a16:creationId xmlns:a16="http://schemas.microsoft.com/office/drawing/2014/main" id="{FC6DDF19-D848-42F1-B8DC-EBF89122C151}"/>
              </a:ext>
            </a:extLst>
          </p:cNvPr>
          <p:cNvSpPr>
            <a:spLocks xmlns:a="http://schemas.openxmlformats.org/drawingml/2006/main" noGrp="1"/>
          </p:cNvSpPr>
          <p:nvPr/>
        </p:nvSpPr>
        <p:spPr>
          <a:xfrm xmlns:a="http://schemas.openxmlformats.org/drawingml/2006/main">
            <a:off x="3714750" y="3571875"/>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Define purchase/session limits and loss allocation.</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Conflicting intents can still fail at settlement.</a:t>
            </a:r>
          </a:p>
        </p:txBody>
      </p:sp>
      <p:sp>
        <p:nvSpPr>
          <p:cNvPr id="8" name="text-7">
            <a:extLst xmlns:a="http://schemas.openxmlformats.org/drawingml/2006/main">
              <a:ext uri="{FF2B5EF4-FFF2-40B4-BE49-F238E27FC236}">
                <a16:creationId xmlns:a16="http://schemas.microsoft.com/office/drawing/2014/main" id="{C1FB747F-C99B-4D71-8951-0B9805999C42}"/>
              </a:ext>
            </a:extLst>
          </p:cNvPr>
          <p:cNvSpPr>
            <a:spLocks xmlns:a="http://schemas.openxmlformats.org/drawingml/2006/main" noGrp="1"/>
          </p:cNvSpPr>
          <p:nvPr/>
        </p:nvSpPr>
        <p:spPr>
          <a:xfrm xmlns:a="http://schemas.openxmlformats.org/drawingml/2006/main">
            <a:off x="609600" y="470535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293DFF"/>
                </a:solidFill>
                <a:latin typeface="DejaVu Sans"/>
                <a:ea typeface="DejaVu Sans"/>
                <a:cs typeface="DejaVu Sans"/>
              </a:defRPr>
            </a:defPPr>
          </a:lstStyle>
          <a:p xmlns:a="http://schemas.openxmlformats.org/drawingml/2006/main">
            <a:pPr>
              <a:defRPr sz="2100" b="1">
                <a:solidFill>
                  <a:srgbClr val="293DFF"/>
                </a:solidFill>
                <a:latin typeface="DejaVu Sans"/>
                <a:ea typeface="DejaVu Sans"/>
                <a:cs typeface="DejaVu Sans"/>
              </a:defRPr>
            </a:pPr>
            <a:r>
              <a:rPr sz="2100" b="1">
                <a:solidFill>
                  <a:srgbClr val="293DFF"/>
                </a:solidFill>
                <a:latin typeface="DejaVu Sans"/>
                <a:ea typeface="DejaVu Sans"/>
                <a:cs typeface="DejaVu Sans"/>
              </a:rPr>
              <a:t>Commercial readiness</a:t>
            </a:r>
          </a:p>
        </p:txBody>
      </p:sp>
      <p:sp>
        <p:nvSpPr>
          <p:cNvPr id="9" name="text-8">
            <a:extLst xmlns:a="http://schemas.openxmlformats.org/drawingml/2006/main">
              <a:ext uri="{FF2B5EF4-FFF2-40B4-BE49-F238E27FC236}">
                <a16:creationId xmlns:a16="http://schemas.microsoft.com/office/drawing/2014/main" id="{108EC2BC-3DF7-455E-9B21-E5D42C3CBD4B}"/>
              </a:ext>
            </a:extLst>
          </p:cNvPr>
          <p:cNvSpPr>
            <a:spLocks xmlns:a="http://schemas.openxmlformats.org/drawingml/2006/main" noGrp="1"/>
          </p:cNvSpPr>
          <p:nvPr/>
        </p:nvSpPr>
        <p:spPr>
          <a:xfrm xmlns:a="http://schemas.openxmlformats.org/drawingml/2006/main">
            <a:off x="3714750" y="4705350"/>
            <a:ext cx="7848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01C40"/>
                </a:solidFill>
                <a:latin typeface="DejaVu Sans"/>
                <a:ea typeface="DejaVu Sans"/>
                <a:cs typeface="DejaVu Sans"/>
              </a:defRPr>
            </a:defPPr>
          </a:lstStyle>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Resolve compliance and fiat provider requirements.</a:t>
            </a:r>
          </a:p>
          <a:p xmlns:a="http://schemas.openxmlformats.org/drawingml/2006/main">
            <a:pPr>
              <a:defRPr sz="2025" b="0">
                <a:solidFill>
                  <a:srgbClr val="101C40"/>
                </a:solidFill>
                <a:latin typeface="DejaVu Sans"/>
                <a:ea typeface="DejaVu Sans"/>
                <a:cs typeface="DejaVu Sans"/>
              </a:defRPr>
            </a:pPr>
            <a:r>
              <a:rPr sz="2025" b="0">
                <a:solidFill>
                  <a:srgbClr val="101C40"/>
                </a:solidFill>
                <a:latin typeface="DejaVu Sans"/>
                <a:ea typeface="DejaVu Sans"/>
                <a:cs typeface="DejaVu Sans"/>
              </a:rPr>
              <a:t>Run a controlled pilot before handling real funds.</a:t>
            </a:r>
          </a:p>
        </p:txBody>
      </p:sp>
      <p:sp>
        <p:nvSpPr>
          <p:cNvPr id="10" name="text-9">
            <a:extLst xmlns:a="http://schemas.openxmlformats.org/drawingml/2006/main">
              <a:ext uri="{FF2B5EF4-FFF2-40B4-BE49-F238E27FC236}">
                <a16:creationId xmlns:a16="http://schemas.microsoft.com/office/drawing/2014/main" id="{1ADEED54-584B-4D72-8D29-8913C003F269}"/>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Mainnet and production fiat depend on these gates. Escrow does not guarantee every accepted payment.</a:t>
            </a:r>
          </a:p>
        </p:txBody>
      </p:sp>
      <p:pic xmlns:a="http://schemas.openxmlformats.org/drawingml/2006/main" xmlns:r="http://schemas.openxmlformats.org/officeDocument/2006/relationships">
        <p:nvPicPr>
          <p:cNvPr id="11" name="Picture 10"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2" name="TextBox 11"/>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3" name="Rectangle 12"/>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34843358"/>
      </p:ext>
    </p:extLst>
  </p:cSld>
</p:sld>
</file>

<file path=ppt/slides/slide1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9DA51AE3-DED4-4D81-A144-16CE824628CE}"/>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Founder fit and the next milestone</a:t>
            </a:r>
          </a:p>
        </p:txBody>
      </p:sp>
      <p:sp>
        <p:nvSpPr>
          <p:cNvPr id="3" name="text-2">
            <a:extLst xmlns:a="http://schemas.openxmlformats.org/drawingml/2006/main">
              <a:ext uri="{FF2B5EF4-FFF2-40B4-BE49-F238E27FC236}">
                <a16:creationId xmlns:a16="http://schemas.microsoft.com/office/drawing/2014/main" id="{04832BED-37F9-4527-979B-3192FF4A50CE}"/>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16</a:t>
            </a:r>
          </a:p>
        </p:txBody>
      </p:sp>
      <p:sp>
        <p:nvSpPr>
          <p:cNvPr id="4" name="text-3">
            <a:extLst xmlns:a="http://schemas.openxmlformats.org/drawingml/2006/main">
              <a:ext uri="{FF2B5EF4-FFF2-40B4-BE49-F238E27FC236}">
                <a16:creationId xmlns:a16="http://schemas.microsoft.com/office/drawing/2014/main" id="{9DEE3B78-944E-42A0-864F-AA82A72341B3}"/>
              </a:ext>
            </a:extLst>
          </p:cNvPr>
          <p:cNvSpPr>
            <a:spLocks xmlns:a="http://schemas.openxmlformats.org/drawingml/2006/main" noGrp="1"/>
          </p:cNvSpPr>
          <p:nvPr/>
        </p:nvSpPr>
        <p:spPr>
          <a:xfrm xmlns:a="http://schemas.openxmlformats.org/drawingml/2006/main">
            <a:off x="609600" y="23907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1">
                <a:solidFill>
                  <a:srgbClr val="293DFF"/>
                </a:solidFill>
                <a:latin typeface="DejaVu Sans"/>
                <a:ea typeface="DejaVu Sans"/>
                <a:cs typeface="DejaVu Sans"/>
              </a:defRPr>
            </a:defPPr>
          </a:lstStyle>
          <a:p xmlns:a="http://schemas.openxmlformats.org/drawingml/2006/main">
            <a:pPr>
              <a:defRPr sz="3225" b="1">
                <a:solidFill>
                  <a:srgbClr val="293DFF"/>
                </a:solidFill>
                <a:latin typeface="DejaVu Sans"/>
                <a:ea typeface="DejaVu Sans"/>
                <a:cs typeface="DejaVu Sans"/>
              </a:defRPr>
            </a:pPr>
            <a:r>
              <a:rPr sz="3225" b="1">
                <a:solidFill>
                  <a:srgbClr val="293DFF"/>
                </a:solidFill>
                <a:latin typeface="DejaVu Sans"/>
                <a:ea typeface="DejaVu Sans"/>
                <a:cs typeface="DejaVu Sans"/>
              </a:rPr>
              <a:t>Diego Shimohama</a:t>
            </a:r>
          </a:p>
        </p:txBody>
      </p:sp>
      <p:sp>
        <p:nvSpPr>
          <p:cNvPr id="5" name="text-4">
            <a:extLst xmlns:a="http://schemas.openxmlformats.org/drawingml/2006/main">
              <a:ext uri="{FF2B5EF4-FFF2-40B4-BE49-F238E27FC236}">
                <a16:creationId xmlns:a16="http://schemas.microsoft.com/office/drawing/2014/main" id="{EF99B5CD-90E1-415F-8D0D-5DA31B57B662}"/>
              </a:ext>
            </a:extLst>
          </p:cNvPr>
          <p:cNvSpPr>
            <a:spLocks xmlns:a="http://schemas.openxmlformats.org/drawingml/2006/main" noGrp="1"/>
          </p:cNvSpPr>
          <p:nvPr/>
        </p:nvSpPr>
        <p:spPr>
          <a:xfrm xmlns:a="http://schemas.openxmlformats.org/drawingml/2006/main">
            <a:off x="609600" y="3228975"/>
            <a:ext cx="10572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01C40"/>
                </a:solidFill>
                <a:latin typeface="DejaVu Sans"/>
                <a:ea typeface="DejaVu Sans"/>
                <a:cs typeface="DejaVu Sans"/>
              </a:defRPr>
            </a:defPPr>
          </a:lstStyle>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25+ years in IT, security, identity and infrastructure.</a:t>
            </a:r>
          </a:p>
          <a:p xmlns:a="http://schemas.openxmlformats.org/drawingml/2006/main">
            <a:pPr>
              <a:defRPr sz="2175" b="0">
                <a:solidFill>
                  <a:srgbClr val="101C40"/>
                </a:solidFill>
                <a:latin typeface="DejaVu Sans"/>
                <a:ea typeface="DejaVu Sans"/>
                <a:cs typeface="DejaVu Sans"/>
              </a:defRPr>
            </a:pPr>
            <a:r>
              <a:rPr sz="2175" b="0">
                <a:solidFill>
                  <a:srgbClr val="101C40"/>
                </a:solidFill>
                <a:latin typeface="DejaVu Sans"/>
                <a:ea typeface="DejaVu Sans"/>
                <a:cs typeface="DejaVu Sans"/>
              </a:rPr>
              <a:t>Founder of Naapi and Hack-Cancer. Builder of BioFlow.</a:t>
            </a:r>
          </a:p>
        </p:txBody>
      </p:sp>
      <p:sp>
        <p:nvSpPr>
          <p:cNvPr id="6" name="text-5">
            <a:extLst xmlns:a="http://schemas.openxmlformats.org/drawingml/2006/main">
              <a:ext uri="{FF2B5EF4-FFF2-40B4-BE49-F238E27FC236}">
                <a16:creationId xmlns:a16="http://schemas.microsoft.com/office/drawing/2014/main" id="{BB60DA9C-DB81-4566-B74F-8A85B21A9CD6}"/>
              </a:ext>
            </a:extLst>
          </p:cNvPr>
          <p:cNvSpPr>
            <a:spLocks xmlns:a="http://schemas.openxmlformats.org/drawingml/2006/main" noGrp="1"/>
          </p:cNvSpPr>
          <p:nvPr/>
        </p:nvSpPr>
        <p:spPr>
          <a:xfrm xmlns:a="http://schemas.openxmlformats.org/drawingml/2006/main">
            <a:off x="609600" y="4457700"/>
            <a:ext cx="1057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96989"/>
                </a:solidFill>
                <a:latin typeface="DejaVu Sans"/>
                <a:ea typeface="DejaVu Sans"/>
                <a:cs typeface="DejaVu Sans"/>
              </a:defRPr>
            </a:defPPr>
          </a:lstStyle>
          <a:p xmlns:a="http://schemas.openxmlformats.org/drawingml/2006/main">
            <a:pPr>
              <a:defRPr sz="2025" b="0">
                <a:solidFill>
                  <a:srgbClr val="596989"/>
                </a:solidFill>
                <a:latin typeface="DejaVu Sans"/>
                <a:ea typeface="DejaVu Sans"/>
                <a:cs typeface="DejaVu Sans"/>
              </a:defRPr>
            </a:pPr>
            <a:r>
              <a:rPr sz="2025" b="0">
                <a:solidFill>
                  <a:srgbClr val="596989"/>
                </a:solidFill>
                <a:latin typeface="DejaVu Sans"/>
                <a:ea typeface="DejaVu Sans"/>
                <a:cs typeface="DejaVu Sans"/>
              </a:rPr>
              <a:t>Naapi claims assessment: 20 days to 3 minutes.</a:t>
            </a:r>
          </a:p>
          <a:p xmlns:a="http://schemas.openxmlformats.org/drawingml/2006/main">
            <a:pPr>
              <a:defRPr sz="2025" b="0">
                <a:solidFill>
                  <a:srgbClr val="596989"/>
                </a:solidFill>
                <a:latin typeface="DejaVu Sans"/>
                <a:ea typeface="DejaVu Sans"/>
                <a:cs typeface="DejaVu Sans"/>
              </a:defRPr>
            </a:pPr>
            <a:r>
              <a:rPr sz="2025" b="0">
                <a:solidFill>
                  <a:srgbClr val="596989"/>
                </a:solidFill>
                <a:latin typeface="DejaVu Sans"/>
                <a:ea typeface="DejaVu Sans"/>
                <a:cs typeface="DejaVu Sans"/>
              </a:rPr>
              <a:t>Experience with fraud identification and instant payments.</a:t>
            </a:r>
          </a:p>
        </p:txBody>
      </p:sp>
      <p:sp>
        <p:nvSpPr>
          <p:cNvPr id="7" name="text-6">
            <a:extLst xmlns:a="http://schemas.openxmlformats.org/drawingml/2006/main">
              <a:ext uri="{FF2B5EF4-FFF2-40B4-BE49-F238E27FC236}">
                <a16:creationId xmlns:a16="http://schemas.microsoft.com/office/drawing/2014/main" id="{52E0D652-1CFF-4158-8480-D9FA299BAC48}"/>
              </a:ext>
            </a:extLst>
          </p:cNvPr>
          <p:cNvSpPr>
            <a:spLocks xmlns:a="http://schemas.openxmlformats.org/drawingml/2006/main" noGrp="1"/>
          </p:cNvSpPr>
          <p:nvPr/>
        </p:nvSpPr>
        <p:spPr>
          <a:xfrm xmlns:a="http://schemas.openxmlformats.org/drawingml/2006/main">
            <a:off x="609600" y="5419725"/>
            <a:ext cx="10572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93DFF"/>
                </a:solidFill>
                <a:latin typeface="DejaVu Sans"/>
                <a:ea typeface="DejaVu Sans"/>
                <a:cs typeface="DejaVu Sans"/>
              </a:defRPr>
            </a:defPPr>
          </a:lstStyle>
          <a:p xmlns:a="http://schemas.openxmlformats.org/drawingml/2006/main">
            <a:pPr>
              <a:defRPr sz="2100" b="0">
                <a:solidFill>
                  <a:srgbClr val="293DFF"/>
                </a:solidFill>
                <a:latin typeface="DejaVu Sans"/>
                <a:ea typeface="DejaVu Sans"/>
                <a:cs typeface="DejaVu Sans"/>
              </a:defRPr>
            </a:pPr>
            <a:r>
              <a:rPr sz="2100" b="0">
                <a:solidFill>
                  <a:srgbClr val="293DFF"/>
                </a:solidFill>
                <a:latin typeface="DejaVu Sans"/>
                <a:ea typeface="DejaVu Sans"/>
                <a:cs typeface="DejaVu Sans"/>
              </a:rPr>
              <a:t>Seeking merchant design partners and technical mentorship</a:t>
            </a:r>
          </a:p>
          <a:p xmlns:a="http://schemas.openxmlformats.org/drawingml/2006/main">
            <a:pPr>
              <a:defRPr sz="2100" b="0">
                <a:solidFill>
                  <a:srgbClr val="293DFF"/>
                </a:solidFill>
                <a:latin typeface="DejaVu Sans"/>
                <a:ea typeface="DejaVu Sans"/>
                <a:cs typeface="DejaVu Sans"/>
              </a:defRPr>
            </a:pPr>
            <a:r>
              <a:rPr sz="2100" b="0">
                <a:solidFill>
                  <a:srgbClr val="293DFF"/>
                </a:solidFill>
                <a:latin typeface="DejaVu Sans"/>
                <a:ea typeface="DejaVu Sans"/>
                <a:cs typeface="DejaVu Sans"/>
              </a:rPr>
              <a:t>to validate a controlled pilot and a full-time transition.</a:t>
            </a:r>
          </a:p>
        </p:txBody>
      </p:sp>
      <p:pic xmlns:a="http://schemas.openxmlformats.org/drawingml/2006/main" xmlns:r="http://schemas.openxmlformats.org/officeDocument/2006/relationships">
        <p:nvPicPr>
          <p:cNvPr id="8" name="Picture 7"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9" name="TextBox 8"/>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0" name="Rectangle 9"/>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73396217"/>
      </p:ext>
    </p:extLst>
  </p:cSld>
</p:sld>
</file>

<file path=ppt/slides/slide1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43D6258E-F907-4716-A902-D1F0DE9F71CF}"/>
              </a:ext>
            </a:extLst>
          </p:cNvPr>
          <p:cNvSpPr>
            <a:spLocks xmlns:a="http://schemas.openxmlformats.org/drawingml/2006/main" noGrp="1"/>
          </p:cNvSpPr>
          <p:nvPr/>
        </p:nvSpPr>
        <p:spPr>
          <a:xfrm xmlns:a="http://schemas.openxmlformats.org/drawingml/2006/main">
            <a:off x="609600" y="10668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01C40"/>
                </a:solidFill>
                <a:latin typeface="DejaVu Sans"/>
                <a:ea typeface="DejaVu Sans"/>
                <a:cs typeface="DejaVu Sans"/>
              </a:defRPr>
            </a:defPPr>
          </a:lstStyle>
          <a:p xmlns:a="http://schemas.openxmlformats.org/drawingml/2006/main">
            <a:pPr>
              <a:defRPr sz="3450" b="1">
                <a:solidFill>
                  <a:srgbClr val="101C40"/>
                </a:solidFill>
                <a:latin typeface="DejaVu Sans"/>
                <a:ea typeface="DejaVu Sans"/>
                <a:cs typeface="DejaVu Sans"/>
              </a:defRPr>
            </a:pPr>
            <a:r>
              <a:rPr sz="3450" b="1">
                <a:solidFill>
                  <a:srgbClr val="101C40"/>
                </a:solidFill>
                <a:latin typeface="DejaVu Sans"/>
                <a:ea typeface="DejaVu Sans"/>
                <a:cs typeface="DejaVu Sans"/>
              </a:rPr>
              <a:t>Sources and evidence</a:t>
            </a:r>
          </a:p>
        </p:txBody>
      </p:sp>
      <p:sp>
        <p:nvSpPr>
          <p:cNvPr id="3" name="text-2">
            <a:extLst xmlns:a="http://schemas.openxmlformats.org/drawingml/2006/main">
              <a:ext uri="{FF2B5EF4-FFF2-40B4-BE49-F238E27FC236}">
                <a16:creationId xmlns:a16="http://schemas.microsoft.com/office/drawing/2014/main" id="{B70C62E3-20AE-45BD-A856-965C17E84FDF}"/>
              </a:ext>
            </a:extLst>
          </p:cNvPr>
          <p:cNvSpPr>
            <a:spLocks xmlns:a="http://schemas.openxmlformats.org/drawingml/2006/main" noGrp="1"/>
          </p:cNvSpPr>
          <p:nvPr/>
        </p:nvSpPr>
        <p:spPr>
          <a:xfrm xmlns:a="http://schemas.openxmlformats.org/drawingml/2006/main">
            <a:off x="11029950" y="6391275"/>
            <a:ext cx="523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17</a:t>
            </a:r>
          </a:p>
        </p:txBody>
      </p:sp>
      <p:sp>
        <p:nvSpPr>
          <p:cNvPr id="4" name="text-3">
            <a:extLst xmlns:a="http://schemas.openxmlformats.org/drawingml/2006/main">
              <a:ext uri="{FF2B5EF4-FFF2-40B4-BE49-F238E27FC236}">
                <a16:creationId xmlns:a16="http://schemas.microsoft.com/office/drawing/2014/main" id="{DD2A4284-E025-418D-B509-B60E5E0C0032}"/>
              </a:ext>
            </a:extLst>
          </p:cNvPr>
          <p:cNvSpPr>
            <a:spLocks xmlns:a="http://schemas.openxmlformats.org/drawingml/2006/main" noGrp="1"/>
          </p:cNvSpPr>
          <p:nvPr/>
        </p:nvSpPr>
        <p:spPr>
          <a:xfrm xmlns:a="http://schemas.openxmlformats.org/drawingml/2006/main">
            <a:off x="609600" y="23431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93DFF"/>
                </a:solidFill>
                <a:latin typeface="DejaVu Sans"/>
                <a:ea typeface="DejaVu Sans"/>
                <a:cs typeface="DejaVu Sans"/>
              </a:defRPr>
            </a:defPPr>
          </a:lstStyle>
          <a:p xmlns:a="http://schemas.openxmlformats.org/drawingml/2006/main">
            <a:pPr>
              <a:defRPr sz="2175" b="1">
                <a:solidFill>
                  <a:srgbClr val="293DFF"/>
                </a:solidFill>
                <a:latin typeface="DejaVu Sans"/>
                <a:ea typeface="DejaVu Sans"/>
                <a:cs typeface="DejaVu Sans"/>
              </a:defRPr>
            </a:pPr>
            <a:r>
              <a:rPr sz="2175" b="1">
                <a:solidFill>
                  <a:srgbClr val="293DFF"/>
                </a:solidFill>
                <a:latin typeface="DejaVu Sans"/>
                <a:ea typeface="DejaVu Sans"/>
                <a:cs typeface="DejaVu Sans"/>
              </a:rPr>
              <a:t>Market</a:t>
            </a:r>
          </a:p>
        </p:txBody>
      </p:sp>
      <p:sp>
        <p:nvSpPr>
          <p:cNvPr id="5" name="text-4">
            <a:extLst xmlns:a="http://schemas.openxmlformats.org/drawingml/2006/main">
              <a:ext uri="{FF2B5EF4-FFF2-40B4-BE49-F238E27FC236}">
                <a16:creationId xmlns:a16="http://schemas.microsoft.com/office/drawing/2014/main" id="{20D311DC-7945-403F-BA81-379BBD32463D}"/>
              </a:ext>
            </a:extLst>
          </p:cNvPr>
          <p:cNvSpPr>
            <a:spLocks xmlns:a="http://schemas.openxmlformats.org/drawingml/2006/main" noGrp="1"/>
          </p:cNvSpPr>
          <p:nvPr/>
        </p:nvSpPr>
        <p:spPr>
          <a:xfrm xmlns:a="http://schemas.openxmlformats.org/drawingml/2006/main">
            <a:off x="3238500" y="2343150"/>
            <a:ext cx="8324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01C40"/>
                </a:solidFill>
                <a:latin typeface="DejaVu Sans"/>
                <a:ea typeface="DejaVu Sans"/>
                <a:cs typeface="DejaVu Sans"/>
              </a:defRPr>
            </a:defPPr>
          </a:lstStyle>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Sebrae: 24 million active small businesses, June 2026.</a:t>
            </a:r>
          </a:p>
          <a:p xmlns:a="http://schemas.openxmlformats.org/drawingml/2006/main">
            <a:pPr>
              <a:defRPr sz="1875" b="0">
                <a:solidFill>
                  <a:srgbClr val="101C40"/>
                </a:solidFill>
                <a:latin typeface="DejaVu Sans"/>
                <a:ea typeface="DejaVu Sans"/>
                <a:cs typeface="DejaVu Sans"/>
              </a:defRPr>
            </a:pPr>
            <a:r>
              <a:rPr sz="1875" b="0">
                <a:solidFill>
                  <a:srgbClr val="101C40"/>
                </a:solidFill>
                <a:latin typeface="DejaVu Sans"/>
                <a:ea typeface="DejaVu Sans"/>
                <a:cs typeface="DejaVu Sans"/>
              </a:rPr>
              <a:t>Banco Central: Pix report 2023–2025, pp.14 and 20.</a:t>
            </a:r>
          </a:p>
        </p:txBody>
      </p:sp>
      <p:sp>
        <p:nvSpPr>
          <p:cNvPr id="6" name="text-5">
            <a:extLst xmlns:a="http://schemas.openxmlformats.org/drawingml/2006/main">
              <a:ext uri="{FF2B5EF4-FFF2-40B4-BE49-F238E27FC236}">
                <a16:creationId xmlns:a16="http://schemas.microsoft.com/office/drawing/2014/main" id="{D78D4C70-BE7D-465E-A629-0852617637DB}"/>
              </a:ext>
            </a:extLst>
          </p:cNvPr>
          <p:cNvSpPr>
            <a:spLocks xmlns:a="http://schemas.openxmlformats.org/drawingml/2006/main" noGrp="1"/>
          </p:cNvSpPr>
          <p:nvPr/>
        </p:nvSpPr>
        <p:spPr>
          <a:xfrm xmlns:a="http://schemas.openxmlformats.org/drawingml/2006/main">
            <a:off x="609600" y="3419475"/>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93DFF"/>
                </a:solidFill>
                <a:latin typeface="DejaVu Sans"/>
                <a:ea typeface="DejaVu Sans"/>
                <a:cs typeface="DejaVu Sans"/>
              </a:defRPr>
            </a:defPPr>
          </a:lstStyle>
          <a:p xmlns:a="http://schemas.openxmlformats.org/drawingml/2006/main">
            <a:pPr>
              <a:defRPr sz="2175" b="1">
                <a:solidFill>
                  <a:srgbClr val="293DFF"/>
                </a:solidFill>
                <a:latin typeface="DejaVu Sans"/>
                <a:ea typeface="DejaVu Sans"/>
                <a:cs typeface="DejaVu Sans"/>
              </a:defRPr>
            </a:pPr>
            <a:r>
              <a:rPr sz="2175" b="1">
                <a:solidFill>
                  <a:srgbClr val="293DFF"/>
                </a:solidFill>
                <a:latin typeface="DejaVu Sans"/>
                <a:ea typeface="DejaVu Sans"/>
                <a:cs typeface="DejaVu Sans"/>
              </a:rPr>
              <a:t>Product</a:t>
            </a:r>
          </a:p>
        </p:txBody>
      </p:sp>
      <p:sp>
        <p:nvSpPr>
          <p:cNvPr id="7" name="text-6">
            <a:extLst xmlns:a="http://schemas.openxmlformats.org/drawingml/2006/main">
              <a:ext uri="{FF2B5EF4-FFF2-40B4-BE49-F238E27FC236}">
                <a16:creationId xmlns:a16="http://schemas.microsoft.com/office/drawing/2014/main" id="{FB538D25-2A11-4C41-B4EE-6A03917E4869}"/>
              </a:ext>
            </a:extLst>
          </p:cNvPr>
          <p:cNvSpPr>
            <a:spLocks xmlns:a="http://schemas.openxmlformats.org/drawingml/2006/main" noGrp="1"/>
          </p:cNvSpPr>
          <p:nvPr/>
        </p:nvSpPr>
        <p:spPr>
          <a:xfrm xmlns:a="http://schemas.openxmlformats.org/drawingml/2006/main">
            <a:off x="3238500" y="3419475"/>
            <a:ext cx="8324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01C40"/>
                </a:solidFill>
                <a:latin typeface="DejaVu Sans"/>
                <a:ea typeface="DejaVu Sans"/>
                <a:cs typeface="DejaVu Sans"/>
              </a:defRPr>
            </a:defPPr>
          </a:lstStyle>
          <a:p xmlns:a="http://schemas.openxmlformats.org/drawingml/2006/main">
            <a:pPr>
              <a:defRPr sz="1800" b="0">
                <a:solidFill>
                  <a:srgbClr val="101C40"/>
                </a:solidFill>
                <a:latin typeface="DejaVu Sans"/>
                <a:ea typeface="DejaVu Sans"/>
                <a:cs typeface="DejaVu Sans"/>
              </a:defRPr>
            </a:pPr>
            <a:r>
              <a:rPr sz="1800" b="0">
                <a:solidFill>
                  <a:srgbClr val="101C40"/>
                </a:solidFill>
                <a:latin typeface="DejaVu Sans"/>
                <a:ea typeface="DejaVu Sans"/>
                <a:cs typeface="DejaVu Sans"/>
              </a:rPr>
              <a:t>README.md, docs/DEMO.md and recorded Devnet evidence.</a:t>
            </a:r>
          </a:p>
          <a:p xmlns:a="http://schemas.openxmlformats.org/drawingml/2006/main">
            <a:pPr>
              <a:defRPr sz="1800" b="0">
                <a:solidFill>
                  <a:srgbClr val="101C40"/>
                </a:solidFill>
                <a:latin typeface="DejaVu Sans"/>
                <a:ea typeface="DejaVu Sans"/>
                <a:cs typeface="DejaVu Sans"/>
              </a:defRPr>
            </a:pPr>
            <a:r>
              <a:rPr sz="1800" b="0">
                <a:solidFill>
                  <a:srgbClr val="101C40"/>
                </a:solidFill>
                <a:latin typeface="DejaVu Sans"/>
                <a:ea typeface="DejaVu Sans"/>
                <a:cs typeface="DejaVu Sans"/>
              </a:rPr>
              <a:t>Current screenshots: Oct 14. Recorded payment screens: Oct 12.</a:t>
            </a:r>
          </a:p>
        </p:txBody>
      </p:sp>
      <p:sp>
        <p:nvSpPr>
          <p:cNvPr id="8" name="text-7">
            <a:extLst xmlns:a="http://schemas.openxmlformats.org/drawingml/2006/main">
              <a:ext uri="{FF2B5EF4-FFF2-40B4-BE49-F238E27FC236}">
                <a16:creationId xmlns:a16="http://schemas.microsoft.com/office/drawing/2014/main" id="{B76F3C20-1917-4AEA-B1A6-A34D0012FCE3}"/>
              </a:ext>
            </a:extLst>
          </p:cNvPr>
          <p:cNvSpPr>
            <a:spLocks xmlns:a="http://schemas.openxmlformats.org/drawingml/2006/main" noGrp="1"/>
          </p:cNvSpPr>
          <p:nvPr/>
        </p:nvSpPr>
        <p:spPr>
          <a:xfrm xmlns:a="http://schemas.openxmlformats.org/drawingml/2006/main">
            <a:off x="609600" y="4581525"/>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1">
                <a:solidFill>
                  <a:srgbClr val="293DFF"/>
                </a:solidFill>
                <a:latin typeface="DejaVu Sans"/>
                <a:ea typeface="DejaVu Sans"/>
                <a:cs typeface="DejaVu Sans"/>
              </a:defRPr>
            </a:defPPr>
          </a:lstStyle>
          <a:p xmlns:a="http://schemas.openxmlformats.org/drawingml/2006/main">
            <a:pPr>
              <a:defRPr sz="2175" b="1">
                <a:solidFill>
                  <a:srgbClr val="293DFF"/>
                </a:solidFill>
                <a:latin typeface="DejaVu Sans"/>
                <a:ea typeface="DejaVu Sans"/>
                <a:cs typeface="DejaVu Sans"/>
              </a:defRPr>
            </a:pPr>
            <a:r>
              <a:rPr sz="2175" b="1">
                <a:solidFill>
                  <a:srgbClr val="293DFF"/>
                </a:solidFill>
                <a:latin typeface="DejaVu Sans"/>
                <a:ea typeface="DejaVu Sans"/>
                <a:cs typeface="DejaVu Sans"/>
              </a:rPr>
              <a:t>Alternatives</a:t>
            </a:r>
          </a:p>
        </p:txBody>
      </p:sp>
      <p:sp>
        <p:nvSpPr>
          <p:cNvPr id="9" name="text-8">
            <a:extLst xmlns:a="http://schemas.openxmlformats.org/drawingml/2006/main">
              <a:ext uri="{FF2B5EF4-FFF2-40B4-BE49-F238E27FC236}">
                <a16:creationId xmlns:a16="http://schemas.microsoft.com/office/drawing/2014/main" id="{4BA4C38B-E7B1-448B-B0A8-D8C088EB1DF8}"/>
              </a:ext>
            </a:extLst>
          </p:cNvPr>
          <p:cNvSpPr>
            <a:spLocks xmlns:a="http://schemas.openxmlformats.org/drawingml/2006/main" noGrp="1"/>
          </p:cNvSpPr>
          <p:nvPr/>
        </p:nvSpPr>
        <p:spPr>
          <a:xfrm xmlns:a="http://schemas.openxmlformats.org/drawingml/2006/main">
            <a:off x="3238500" y="4581525"/>
            <a:ext cx="8324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01C40"/>
                </a:solidFill>
                <a:latin typeface="DejaVu Sans"/>
                <a:ea typeface="DejaVu Sans"/>
                <a:cs typeface="DejaVu Sans"/>
              </a:defRPr>
            </a:defPPr>
          </a:lstStyle>
          <a:p xmlns:a="http://schemas.openxmlformats.org/drawingml/2006/main">
            <a:pPr>
              <a:defRPr sz="1800" b="0">
                <a:solidFill>
                  <a:srgbClr val="101C40"/>
                </a:solidFill>
                <a:latin typeface="DejaVu Sans"/>
                <a:ea typeface="DejaVu Sans"/>
                <a:cs typeface="DejaVu Sans"/>
              </a:defRPr>
            </a:pPr>
            <a:r>
              <a:rPr sz="1800" b="0">
                <a:solidFill>
                  <a:srgbClr val="101C40"/>
                </a:solidFill>
                <a:latin typeface="DejaVu Sans"/>
                <a:ea typeface="DejaVu Sans"/>
                <a:cs typeface="DejaVu Sans"/>
              </a:rPr>
              <a:t>Solana Pay documentation. Stripe Terminal service terms.</a:t>
            </a:r>
          </a:p>
          <a:p xmlns:a="http://schemas.openxmlformats.org/drawingml/2006/main">
            <a:pPr>
              <a:defRPr sz="1800" b="0">
                <a:solidFill>
                  <a:srgbClr val="101C40"/>
                </a:solidFill>
                <a:latin typeface="DejaVu Sans"/>
                <a:ea typeface="DejaVu Sans"/>
                <a:cs typeface="DejaVu Sans"/>
              </a:defRPr>
            </a:pPr>
            <a:r>
              <a:rPr sz="1800" b="0">
                <a:solidFill>
                  <a:srgbClr val="101C40"/>
                </a:solidFill>
                <a:latin typeface="DejaVu Sans"/>
                <a:ea typeface="DejaVu Sans"/>
                <a:cs typeface="DejaVu Sans"/>
              </a:rPr>
              <a:t>Full source URLs and assumptions appear in speaker notes.</a:t>
            </a:r>
          </a:p>
        </p:txBody>
      </p:sp>
      <p:sp>
        <p:nvSpPr>
          <p:cNvPr id="10" name="text-9">
            <a:extLst xmlns:a="http://schemas.openxmlformats.org/drawingml/2006/main">
              <a:ext uri="{FF2B5EF4-FFF2-40B4-BE49-F238E27FC236}">
                <a16:creationId xmlns:a16="http://schemas.microsoft.com/office/drawing/2014/main" id="{83624133-076E-4BCB-96D9-ED2E1E2CD316}"/>
              </a:ext>
            </a:extLst>
          </p:cNvPr>
          <p:cNvSpPr>
            <a:spLocks xmlns:a="http://schemas.openxmlformats.org/drawingml/2006/main" noGrp="1"/>
          </p:cNvSpPr>
          <p:nvPr/>
        </p:nvSpPr>
        <p:spPr>
          <a:xfrm xmlns:a="http://schemas.openxmlformats.org/drawingml/2006/main">
            <a:off x="609600" y="60293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96989"/>
                </a:solidFill>
                <a:latin typeface="DejaVu Sans"/>
                <a:ea typeface="DejaVu Sans"/>
                <a:cs typeface="DejaVu Sans"/>
              </a:defRPr>
            </a:defPPr>
          </a:lstStyle>
          <a:p xmlns:a="http://schemas.openxmlformats.org/drawingml/2006/main">
            <a:pPr>
              <a:defRPr sz="1350" b="0">
                <a:solidFill>
                  <a:srgbClr val="596989"/>
                </a:solidFill>
                <a:latin typeface="DejaVu Sans"/>
                <a:ea typeface="DejaVu Sans"/>
                <a:cs typeface="DejaVu Sans"/>
              </a:defRPr>
            </a:pPr>
            <a:r>
              <a:rPr sz="1350" b="0">
                <a:solidFill>
                  <a:srgbClr val="596989"/>
                </a:solidFill>
                <a:latin typeface="DejaVu Sans"/>
                <a:ea typeface="DejaVu Sans"/>
                <a:cs typeface="DejaVu Sans"/>
              </a:rPr>
              <a:t>Demo: shimopay-mobile.vercel.app. Repository: github.com/dshimo0/shimo-pay-mobile.</a:t>
            </a:r>
          </a:p>
        </p:txBody>
      </p:sp>
      <p:pic xmlns:a="http://schemas.openxmlformats.org/drawingml/2006/main" xmlns:r="http://schemas.openxmlformats.org/officeDocument/2006/relationships">
        <p:nvPicPr>
          <p:cNvPr id="11" name="Picture 10" descr="app-icon.png"/>
          <p:cNvPicPr>
            <a:picLocks noChangeAspect="1"/>
          </p:cNvPicPr>
          <p:nvPr/>
        </p:nvPicPr>
        <p:blipFill>
          <a:blip r:embed="rId3"/>
          <a:stretch>
            <a:fillRect/>
          </a:stretch>
        </p:blipFill>
        <p:spPr>
          <a:xfrm>
            <a:off x="594360" y="246888"/>
            <a:ext cx="448056" cy="448056"/>
          </a:xfrm>
          <a:prstGeom prst="rect">
            <a:avLst/>
          </a:prstGeom>
        </p:spPr>
      </p:pic>
      <p:sp xmlns:a="http://schemas.openxmlformats.org/drawingml/2006/main">
        <p:nvSpPr>
          <p:cNvPr id="12" name="TextBox 11"/>
          <p:cNvSpPr txBox="1"/>
          <p:nvPr/>
        </p:nvSpPr>
        <p:spPr>
          <a:xfrm>
            <a:off x="1088136" y="292608"/>
            <a:ext cx="2286000" cy="347472"/>
          </a:xfrm>
          <a:prstGeom prst="rect">
            <a:avLst/>
          </a:prstGeom>
          <a:noFill/>
        </p:spPr>
        <p:txBody>
          <a:bodyPr wrap="none" lIns="0" tIns="0">
            <a:spAutoFit/>
          </a:bodyPr>
          <a:lstStyle/>
          <a:p>
            <a:pPr>
              <a:defRPr sz="1700" b="1">
                <a:solidFill>
                  <a:srgbClr val="101C40"/>
                </a:solidFill>
                <a:latin typeface="DejaVu Sans"/>
              </a:defRPr>
            </a:pPr>
            <a:r>
              <a:rPr>
                <a:latin typeface="DejaVu Sans"/>
              </a:rPr>
              <a:t>ShimoPay</a:t>
            </a:r>
          </a:p>
        </p:txBody>
      </p:sp>
      <p:sp xmlns:a="http://schemas.openxmlformats.org/drawingml/2006/main">
        <p:nvSpPr>
          <p:cNvPr id="13" name="Rectangle 12"/>
          <p:cNvSpPr/>
          <p:nvPr/>
        </p:nvSpPr>
        <p:spPr>
          <a:xfrm>
            <a:off x="612648" y="832104"/>
            <a:ext cx="10972800" cy="12801"/>
          </a:xfrm>
          <a:prstGeom prst="rect">
            <a:avLst/>
          </a:prstGeom>
          <a:solidFill>
            <a:srgbClr val="DC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612648" y="832104"/>
            <a:ext cx="566928" cy="22860"/>
          </a:xfrm>
          <a:prstGeom prst="rect">
            <a:avLst/>
          </a:prstGeom>
          <a:solidFill>
            <a:srgbClr val="FF8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0331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ShimoPay</dc:creator>
  <lastModifiedBy>Walnut Exporter</lastModifiedBy>
  <dc:title>ShimoPay — Business Pitch Deck</dc:title>
  <dcterms:created xsi:type="dcterms:W3CDTF">2026-10-14T19:48:04.3540000Z</dcterms:created>
  <dcterms:modified xsi:type="dcterms:W3CDTF">2026-10-14T19:48:04.3540000Z</dcterms:modified>
  <dc:subject>ShimoPay visual identity adaptation</dc:subject>
</coreProperties>
</file>